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
  </p:notesMasterIdLst>
  <p:sldIdLst>
    <p:sldId id="257" r:id="rId2"/>
  </p:sldIdLst>
  <p:sldSz cx="23399750" cy="331200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9966"/>
    <a:srgbClr val="F6C6AD"/>
    <a:srgbClr val="C04F15"/>
    <a:srgbClr val="F8D4C1"/>
    <a:srgbClr val="DFA78A"/>
    <a:srgbClr val="F2AA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203" autoAdjust="0"/>
  </p:normalViewPr>
  <p:slideViewPr>
    <p:cSldViewPr snapToGrid="0">
      <p:cViewPr>
        <p:scale>
          <a:sx n="50" d="100"/>
          <a:sy n="50" d="100"/>
        </p:scale>
        <p:origin x="173" y="2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3053BE-09BA-45F0-8ABF-98D6DC7A43B6}" type="datetimeFigureOut">
              <a:rPr lang="en-ZA" smtClean="0"/>
              <a:t>2026/05/29</a:t>
            </a:fld>
            <a:endParaRPr lang="en-ZA"/>
          </a:p>
        </p:txBody>
      </p:sp>
      <p:sp>
        <p:nvSpPr>
          <p:cNvPr id="4" name="Slide Image Placeholder 3"/>
          <p:cNvSpPr>
            <a:spLocks noGrp="1" noRot="1" noChangeAspect="1"/>
          </p:cNvSpPr>
          <p:nvPr>
            <p:ph type="sldImg" idx="2"/>
          </p:nvPr>
        </p:nvSpPr>
        <p:spPr>
          <a:xfrm>
            <a:off x="2339975" y="1143000"/>
            <a:ext cx="217805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EAD968-2B97-47A0-ABAA-0E5B85F66F0A}" type="slidenum">
              <a:rPr lang="en-ZA" smtClean="0"/>
              <a:t>‹#›</a:t>
            </a:fld>
            <a:endParaRPr lang="en-ZA"/>
          </a:p>
        </p:txBody>
      </p:sp>
    </p:spTree>
    <p:extLst>
      <p:ext uri="{BB962C8B-B14F-4D97-AF65-F5344CB8AC3E}">
        <p14:creationId xmlns:p14="http://schemas.microsoft.com/office/powerpoint/2010/main" val="2261857204"/>
      </p:ext>
    </p:extLst>
  </p:cSld>
  <p:clrMap bg1="lt1" tx1="dk1" bg2="lt2" tx2="dk2" accent1="accent1" accent2="accent2" accent3="accent3" accent4="accent4" accent5="accent5" accent6="accent6" hlink="hlink" folHlink="folHlink"/>
  <p:notesStyle>
    <a:lvl1pPr marL="0" algn="l" defTabSz="717713" rtl="0" eaLnBrk="1" latinLnBrk="0" hangingPunct="1">
      <a:defRPr sz="942" kern="1200">
        <a:solidFill>
          <a:schemeClr val="tx1"/>
        </a:solidFill>
        <a:latin typeface="+mn-lt"/>
        <a:ea typeface="+mn-ea"/>
        <a:cs typeface="+mn-cs"/>
      </a:defRPr>
    </a:lvl1pPr>
    <a:lvl2pPr marL="358856" algn="l" defTabSz="717713" rtl="0" eaLnBrk="1" latinLnBrk="0" hangingPunct="1">
      <a:defRPr sz="942" kern="1200">
        <a:solidFill>
          <a:schemeClr val="tx1"/>
        </a:solidFill>
        <a:latin typeface="+mn-lt"/>
        <a:ea typeface="+mn-ea"/>
        <a:cs typeface="+mn-cs"/>
      </a:defRPr>
    </a:lvl2pPr>
    <a:lvl3pPr marL="717713" algn="l" defTabSz="717713" rtl="0" eaLnBrk="1" latinLnBrk="0" hangingPunct="1">
      <a:defRPr sz="942" kern="1200">
        <a:solidFill>
          <a:schemeClr val="tx1"/>
        </a:solidFill>
        <a:latin typeface="+mn-lt"/>
        <a:ea typeface="+mn-ea"/>
        <a:cs typeface="+mn-cs"/>
      </a:defRPr>
    </a:lvl3pPr>
    <a:lvl4pPr marL="1076569" algn="l" defTabSz="717713" rtl="0" eaLnBrk="1" latinLnBrk="0" hangingPunct="1">
      <a:defRPr sz="942" kern="1200">
        <a:solidFill>
          <a:schemeClr val="tx1"/>
        </a:solidFill>
        <a:latin typeface="+mn-lt"/>
        <a:ea typeface="+mn-ea"/>
        <a:cs typeface="+mn-cs"/>
      </a:defRPr>
    </a:lvl4pPr>
    <a:lvl5pPr marL="1435425" algn="l" defTabSz="717713" rtl="0" eaLnBrk="1" latinLnBrk="0" hangingPunct="1">
      <a:defRPr sz="942" kern="1200">
        <a:solidFill>
          <a:schemeClr val="tx1"/>
        </a:solidFill>
        <a:latin typeface="+mn-lt"/>
        <a:ea typeface="+mn-ea"/>
        <a:cs typeface="+mn-cs"/>
      </a:defRPr>
    </a:lvl5pPr>
    <a:lvl6pPr marL="1794281" algn="l" defTabSz="717713" rtl="0" eaLnBrk="1" latinLnBrk="0" hangingPunct="1">
      <a:defRPr sz="942" kern="1200">
        <a:solidFill>
          <a:schemeClr val="tx1"/>
        </a:solidFill>
        <a:latin typeface="+mn-lt"/>
        <a:ea typeface="+mn-ea"/>
        <a:cs typeface="+mn-cs"/>
      </a:defRPr>
    </a:lvl6pPr>
    <a:lvl7pPr marL="2153138" algn="l" defTabSz="717713" rtl="0" eaLnBrk="1" latinLnBrk="0" hangingPunct="1">
      <a:defRPr sz="942" kern="1200">
        <a:solidFill>
          <a:schemeClr val="tx1"/>
        </a:solidFill>
        <a:latin typeface="+mn-lt"/>
        <a:ea typeface="+mn-ea"/>
        <a:cs typeface="+mn-cs"/>
      </a:defRPr>
    </a:lvl7pPr>
    <a:lvl8pPr marL="2511994" algn="l" defTabSz="717713" rtl="0" eaLnBrk="1" latinLnBrk="0" hangingPunct="1">
      <a:defRPr sz="942" kern="1200">
        <a:solidFill>
          <a:schemeClr val="tx1"/>
        </a:solidFill>
        <a:latin typeface="+mn-lt"/>
        <a:ea typeface="+mn-ea"/>
        <a:cs typeface="+mn-cs"/>
      </a:defRPr>
    </a:lvl8pPr>
    <a:lvl9pPr marL="2870850" algn="l" defTabSz="717713" rtl="0" eaLnBrk="1" latinLnBrk="0" hangingPunct="1">
      <a:defRPr sz="942"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39975" y="1143000"/>
            <a:ext cx="2178050" cy="3086100"/>
          </a:xfrm>
        </p:spPr>
      </p:sp>
      <p:sp>
        <p:nvSpPr>
          <p:cNvPr id="3" name="Notes Placeholder 2"/>
          <p:cNvSpPr>
            <a:spLocks noGrp="1"/>
          </p:cNvSpPr>
          <p:nvPr>
            <p:ph type="body" idx="1"/>
          </p:nvPr>
        </p:nvSpPr>
        <p:spPr/>
        <p:txBody>
          <a:bodyPr/>
          <a:lstStyle/>
          <a:p>
            <a:r>
              <a:rPr lang="en-ZA" dirty="0"/>
              <a:t>Environmental filtering was the dominant assembly mechanism for all traits at all elevations. Environmental filtering shifted communities toward increasingly small size with elevation due to the increased cold tolerance of short-statured plants. The SLA of communities were filtered toward conservative leaf-economic strategies at the low and high elevation, but selection shifted to a more acquisitive leaf-economic strategy at the mid elevation. This may reflect a relaxation of temperature limitations on growth, or a competitive advantage of high SLA at the mid elevation. Microenvironmental variation only weakly explained small-scale variation in SES, suggesting that small scale variation in community assembly signatures are the result of stochastic processes. </a:t>
            </a:r>
          </a:p>
        </p:txBody>
      </p:sp>
      <p:sp>
        <p:nvSpPr>
          <p:cNvPr id="4" name="Slide Number Placeholder 3"/>
          <p:cNvSpPr>
            <a:spLocks noGrp="1"/>
          </p:cNvSpPr>
          <p:nvPr>
            <p:ph type="sldNum" sz="quarter" idx="5"/>
          </p:nvPr>
        </p:nvSpPr>
        <p:spPr/>
        <p:txBody>
          <a:bodyPr/>
          <a:lstStyle/>
          <a:p>
            <a:fld id="{C2EAD968-2B97-47A0-ABAA-0E5B85F66F0A}" type="slidenum">
              <a:rPr lang="en-ZA" smtClean="0"/>
              <a:t>1</a:t>
            </a:fld>
            <a:endParaRPr lang="en-ZA"/>
          </a:p>
        </p:txBody>
      </p:sp>
    </p:spTree>
    <p:extLst>
      <p:ext uri="{BB962C8B-B14F-4D97-AF65-F5344CB8AC3E}">
        <p14:creationId xmlns:p14="http://schemas.microsoft.com/office/powerpoint/2010/main" val="751596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4981" y="5420338"/>
            <a:ext cx="19889788" cy="11530671"/>
          </a:xfrm>
        </p:spPr>
        <p:txBody>
          <a:bodyPr anchor="b"/>
          <a:lstStyle>
            <a:lvl1pPr algn="ctr">
              <a:defRPr sz="15354"/>
            </a:lvl1pPr>
          </a:lstStyle>
          <a:p>
            <a:r>
              <a:rPr lang="en-GB"/>
              <a:t>Click to edit Master title style</a:t>
            </a:r>
            <a:endParaRPr lang="en-US" dirty="0"/>
          </a:p>
        </p:txBody>
      </p:sp>
      <p:sp>
        <p:nvSpPr>
          <p:cNvPr id="3" name="Subtitle 2"/>
          <p:cNvSpPr>
            <a:spLocks noGrp="1"/>
          </p:cNvSpPr>
          <p:nvPr>
            <p:ph type="subTitle" idx="1"/>
          </p:nvPr>
        </p:nvSpPr>
        <p:spPr>
          <a:xfrm>
            <a:off x="2924969" y="17395676"/>
            <a:ext cx="17549813" cy="7996334"/>
          </a:xfrm>
        </p:spPr>
        <p:txBody>
          <a:bodyPr/>
          <a:lstStyle>
            <a:lvl1pPr marL="0" indent="0" algn="ctr">
              <a:buNone/>
              <a:defRPr sz="6142"/>
            </a:lvl1pPr>
            <a:lvl2pPr marL="1169975" indent="0" algn="ctr">
              <a:buNone/>
              <a:defRPr sz="5118"/>
            </a:lvl2pPr>
            <a:lvl3pPr marL="2339950" indent="0" algn="ctr">
              <a:buNone/>
              <a:defRPr sz="4606"/>
            </a:lvl3pPr>
            <a:lvl4pPr marL="3509924" indent="0" algn="ctr">
              <a:buNone/>
              <a:defRPr sz="4094"/>
            </a:lvl4pPr>
            <a:lvl5pPr marL="4679899" indent="0" algn="ctr">
              <a:buNone/>
              <a:defRPr sz="4094"/>
            </a:lvl5pPr>
            <a:lvl6pPr marL="5849874" indent="0" algn="ctr">
              <a:buNone/>
              <a:defRPr sz="4094"/>
            </a:lvl6pPr>
            <a:lvl7pPr marL="7019849" indent="0" algn="ctr">
              <a:buNone/>
              <a:defRPr sz="4094"/>
            </a:lvl7pPr>
            <a:lvl8pPr marL="8189824" indent="0" algn="ctr">
              <a:buNone/>
              <a:defRPr sz="4094"/>
            </a:lvl8pPr>
            <a:lvl9pPr marL="9359798" indent="0" algn="ctr">
              <a:buNone/>
              <a:defRPr sz="4094"/>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459B0A26-DD89-47A0-A145-1F378298EBB9}" type="datetimeFigureOut">
              <a:rPr lang="en-ZA" smtClean="0"/>
              <a:t>2026/05/29</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EE3446CA-5FA3-4DF8-94E1-5FDF56B749A8}" type="slidenum">
              <a:rPr lang="en-ZA" smtClean="0"/>
              <a:t>‹#›</a:t>
            </a:fld>
            <a:endParaRPr lang="en-ZA"/>
          </a:p>
        </p:txBody>
      </p:sp>
    </p:spTree>
    <p:extLst>
      <p:ext uri="{BB962C8B-B14F-4D97-AF65-F5344CB8AC3E}">
        <p14:creationId xmlns:p14="http://schemas.microsoft.com/office/powerpoint/2010/main" val="20397581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59B0A26-DD89-47A0-A145-1F378298EBB9}" type="datetimeFigureOut">
              <a:rPr lang="en-ZA" smtClean="0"/>
              <a:t>2026/05/29</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EE3446CA-5FA3-4DF8-94E1-5FDF56B749A8}" type="slidenum">
              <a:rPr lang="en-ZA" smtClean="0"/>
              <a:t>‹#›</a:t>
            </a:fld>
            <a:endParaRPr lang="en-ZA"/>
          </a:p>
        </p:txBody>
      </p:sp>
    </p:spTree>
    <p:extLst>
      <p:ext uri="{BB962C8B-B14F-4D97-AF65-F5344CB8AC3E}">
        <p14:creationId xmlns:p14="http://schemas.microsoft.com/office/powerpoint/2010/main" val="878849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96547" y="8257013"/>
            <a:ext cx="20182284" cy="13777003"/>
          </a:xfrm>
        </p:spPr>
        <p:txBody>
          <a:bodyPr anchor="b"/>
          <a:lstStyle>
            <a:lvl1pPr>
              <a:defRPr sz="15354"/>
            </a:lvl1pPr>
          </a:lstStyle>
          <a:p>
            <a:r>
              <a:rPr lang="en-GB"/>
              <a:t>Click to edit Master title style</a:t>
            </a:r>
            <a:endParaRPr lang="en-US" dirty="0"/>
          </a:p>
        </p:txBody>
      </p:sp>
      <p:sp>
        <p:nvSpPr>
          <p:cNvPr id="3" name="Text Placeholder 2"/>
          <p:cNvSpPr>
            <a:spLocks noGrp="1"/>
          </p:cNvSpPr>
          <p:nvPr>
            <p:ph type="body" idx="1"/>
          </p:nvPr>
        </p:nvSpPr>
        <p:spPr>
          <a:xfrm>
            <a:off x="1596547" y="22164352"/>
            <a:ext cx="20182284" cy="7245000"/>
          </a:xfrm>
        </p:spPr>
        <p:txBody>
          <a:bodyPr/>
          <a:lstStyle>
            <a:lvl1pPr marL="0" indent="0">
              <a:buNone/>
              <a:defRPr sz="6142">
                <a:solidFill>
                  <a:schemeClr val="tx1">
                    <a:tint val="82000"/>
                  </a:schemeClr>
                </a:solidFill>
              </a:defRPr>
            </a:lvl1pPr>
            <a:lvl2pPr marL="1169975" indent="0">
              <a:buNone/>
              <a:defRPr sz="5118">
                <a:solidFill>
                  <a:schemeClr val="tx1">
                    <a:tint val="82000"/>
                  </a:schemeClr>
                </a:solidFill>
              </a:defRPr>
            </a:lvl2pPr>
            <a:lvl3pPr marL="2339950" indent="0">
              <a:buNone/>
              <a:defRPr sz="4606">
                <a:solidFill>
                  <a:schemeClr val="tx1">
                    <a:tint val="82000"/>
                  </a:schemeClr>
                </a:solidFill>
              </a:defRPr>
            </a:lvl3pPr>
            <a:lvl4pPr marL="3509924" indent="0">
              <a:buNone/>
              <a:defRPr sz="4094">
                <a:solidFill>
                  <a:schemeClr val="tx1">
                    <a:tint val="82000"/>
                  </a:schemeClr>
                </a:solidFill>
              </a:defRPr>
            </a:lvl4pPr>
            <a:lvl5pPr marL="4679899" indent="0">
              <a:buNone/>
              <a:defRPr sz="4094">
                <a:solidFill>
                  <a:schemeClr val="tx1">
                    <a:tint val="82000"/>
                  </a:schemeClr>
                </a:solidFill>
              </a:defRPr>
            </a:lvl5pPr>
            <a:lvl6pPr marL="5849874" indent="0">
              <a:buNone/>
              <a:defRPr sz="4094">
                <a:solidFill>
                  <a:schemeClr val="tx1">
                    <a:tint val="82000"/>
                  </a:schemeClr>
                </a:solidFill>
              </a:defRPr>
            </a:lvl6pPr>
            <a:lvl7pPr marL="7019849" indent="0">
              <a:buNone/>
              <a:defRPr sz="4094">
                <a:solidFill>
                  <a:schemeClr val="tx1">
                    <a:tint val="82000"/>
                  </a:schemeClr>
                </a:solidFill>
              </a:defRPr>
            </a:lvl7pPr>
            <a:lvl8pPr marL="8189824" indent="0">
              <a:buNone/>
              <a:defRPr sz="4094">
                <a:solidFill>
                  <a:schemeClr val="tx1">
                    <a:tint val="82000"/>
                  </a:schemeClr>
                </a:solidFill>
              </a:defRPr>
            </a:lvl8pPr>
            <a:lvl9pPr marL="9359798" indent="0">
              <a:buNone/>
              <a:defRPr sz="4094">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59B0A26-DD89-47A0-A145-1F378298EBB9}" type="datetimeFigureOut">
              <a:rPr lang="en-ZA" smtClean="0"/>
              <a:t>2026/05/29</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EE3446CA-5FA3-4DF8-94E1-5FDF56B749A8}" type="slidenum">
              <a:rPr lang="en-ZA" smtClean="0"/>
              <a:t>‹#›</a:t>
            </a:fld>
            <a:endParaRPr lang="en-ZA"/>
          </a:p>
        </p:txBody>
      </p:sp>
    </p:spTree>
    <p:extLst>
      <p:ext uri="{BB962C8B-B14F-4D97-AF65-F5344CB8AC3E}">
        <p14:creationId xmlns:p14="http://schemas.microsoft.com/office/powerpoint/2010/main" val="4009818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608733" y="8816670"/>
            <a:ext cx="9944894" cy="2101434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11846123" y="8816670"/>
            <a:ext cx="9944894" cy="2101434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459B0A26-DD89-47A0-A145-1F378298EBB9}" type="datetimeFigureOut">
              <a:rPr lang="en-ZA" smtClean="0"/>
              <a:t>2026/05/29</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EE3446CA-5FA3-4DF8-94E1-5FDF56B749A8}" type="slidenum">
              <a:rPr lang="en-ZA" smtClean="0"/>
              <a:t>‹#›</a:t>
            </a:fld>
            <a:endParaRPr lang="en-ZA"/>
          </a:p>
        </p:txBody>
      </p:sp>
    </p:spTree>
    <p:extLst>
      <p:ext uri="{BB962C8B-B14F-4D97-AF65-F5344CB8AC3E}">
        <p14:creationId xmlns:p14="http://schemas.microsoft.com/office/powerpoint/2010/main" val="2617354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11781" y="1763341"/>
            <a:ext cx="20182284" cy="6401672"/>
          </a:xfrm>
        </p:spPr>
        <p:txBody>
          <a:bodyPr/>
          <a:lstStyle/>
          <a:p>
            <a:r>
              <a:rPr lang="en-GB"/>
              <a:t>Click to edit Master title style</a:t>
            </a:r>
            <a:endParaRPr lang="en-US" dirty="0"/>
          </a:p>
        </p:txBody>
      </p:sp>
      <p:sp>
        <p:nvSpPr>
          <p:cNvPr id="3" name="Text Placeholder 2"/>
          <p:cNvSpPr>
            <a:spLocks noGrp="1"/>
          </p:cNvSpPr>
          <p:nvPr>
            <p:ph type="body" idx="1"/>
          </p:nvPr>
        </p:nvSpPr>
        <p:spPr>
          <a:xfrm>
            <a:off x="1611783" y="8119006"/>
            <a:ext cx="9899190" cy="3978999"/>
          </a:xfrm>
        </p:spPr>
        <p:txBody>
          <a:bodyPr anchor="b"/>
          <a:lstStyle>
            <a:lvl1pPr marL="0" indent="0">
              <a:buNone/>
              <a:defRPr sz="6142" b="1"/>
            </a:lvl1pPr>
            <a:lvl2pPr marL="1169975" indent="0">
              <a:buNone/>
              <a:defRPr sz="5118" b="1"/>
            </a:lvl2pPr>
            <a:lvl3pPr marL="2339950" indent="0">
              <a:buNone/>
              <a:defRPr sz="4606" b="1"/>
            </a:lvl3pPr>
            <a:lvl4pPr marL="3509924" indent="0">
              <a:buNone/>
              <a:defRPr sz="4094" b="1"/>
            </a:lvl4pPr>
            <a:lvl5pPr marL="4679899" indent="0">
              <a:buNone/>
              <a:defRPr sz="4094" b="1"/>
            </a:lvl5pPr>
            <a:lvl6pPr marL="5849874" indent="0">
              <a:buNone/>
              <a:defRPr sz="4094" b="1"/>
            </a:lvl6pPr>
            <a:lvl7pPr marL="7019849" indent="0">
              <a:buNone/>
              <a:defRPr sz="4094" b="1"/>
            </a:lvl7pPr>
            <a:lvl8pPr marL="8189824" indent="0">
              <a:buNone/>
              <a:defRPr sz="4094" b="1"/>
            </a:lvl8pPr>
            <a:lvl9pPr marL="9359798" indent="0">
              <a:buNone/>
              <a:defRPr sz="4094" b="1"/>
            </a:lvl9pPr>
          </a:lstStyle>
          <a:p>
            <a:pPr lvl="0"/>
            <a:r>
              <a:rPr lang="en-GB"/>
              <a:t>Click to edit Master text styles</a:t>
            </a:r>
          </a:p>
        </p:txBody>
      </p:sp>
      <p:sp>
        <p:nvSpPr>
          <p:cNvPr id="4" name="Content Placeholder 3"/>
          <p:cNvSpPr>
            <a:spLocks noGrp="1"/>
          </p:cNvSpPr>
          <p:nvPr>
            <p:ph sz="half" idx="2"/>
          </p:nvPr>
        </p:nvSpPr>
        <p:spPr>
          <a:xfrm>
            <a:off x="1611783" y="12098005"/>
            <a:ext cx="9899190" cy="1779434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11846124" y="8119006"/>
            <a:ext cx="9947942" cy="3978999"/>
          </a:xfrm>
        </p:spPr>
        <p:txBody>
          <a:bodyPr anchor="b"/>
          <a:lstStyle>
            <a:lvl1pPr marL="0" indent="0">
              <a:buNone/>
              <a:defRPr sz="6142" b="1"/>
            </a:lvl1pPr>
            <a:lvl2pPr marL="1169975" indent="0">
              <a:buNone/>
              <a:defRPr sz="5118" b="1"/>
            </a:lvl2pPr>
            <a:lvl3pPr marL="2339950" indent="0">
              <a:buNone/>
              <a:defRPr sz="4606" b="1"/>
            </a:lvl3pPr>
            <a:lvl4pPr marL="3509924" indent="0">
              <a:buNone/>
              <a:defRPr sz="4094" b="1"/>
            </a:lvl4pPr>
            <a:lvl5pPr marL="4679899" indent="0">
              <a:buNone/>
              <a:defRPr sz="4094" b="1"/>
            </a:lvl5pPr>
            <a:lvl6pPr marL="5849874" indent="0">
              <a:buNone/>
              <a:defRPr sz="4094" b="1"/>
            </a:lvl6pPr>
            <a:lvl7pPr marL="7019849" indent="0">
              <a:buNone/>
              <a:defRPr sz="4094" b="1"/>
            </a:lvl7pPr>
            <a:lvl8pPr marL="8189824" indent="0">
              <a:buNone/>
              <a:defRPr sz="4094" b="1"/>
            </a:lvl8pPr>
            <a:lvl9pPr marL="9359798" indent="0">
              <a:buNone/>
              <a:defRPr sz="4094" b="1"/>
            </a:lvl9pPr>
          </a:lstStyle>
          <a:p>
            <a:pPr lvl="0"/>
            <a:r>
              <a:rPr lang="en-GB"/>
              <a:t>Click to edit Master text styles</a:t>
            </a:r>
          </a:p>
        </p:txBody>
      </p:sp>
      <p:sp>
        <p:nvSpPr>
          <p:cNvPr id="6" name="Content Placeholder 5"/>
          <p:cNvSpPr>
            <a:spLocks noGrp="1"/>
          </p:cNvSpPr>
          <p:nvPr>
            <p:ph sz="quarter" idx="4"/>
          </p:nvPr>
        </p:nvSpPr>
        <p:spPr>
          <a:xfrm>
            <a:off x="11846124" y="12098005"/>
            <a:ext cx="9947942" cy="1779434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459B0A26-DD89-47A0-A145-1F378298EBB9}" type="datetimeFigureOut">
              <a:rPr lang="en-ZA" smtClean="0"/>
              <a:t>2026/05/29</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EE3446CA-5FA3-4DF8-94E1-5FDF56B749A8}" type="slidenum">
              <a:rPr lang="en-ZA" smtClean="0"/>
              <a:t>‹#›</a:t>
            </a:fld>
            <a:endParaRPr lang="en-ZA"/>
          </a:p>
        </p:txBody>
      </p:sp>
    </p:spTree>
    <p:extLst>
      <p:ext uri="{BB962C8B-B14F-4D97-AF65-F5344CB8AC3E}">
        <p14:creationId xmlns:p14="http://schemas.microsoft.com/office/powerpoint/2010/main" val="13455840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459B0A26-DD89-47A0-A145-1F378298EBB9}" type="datetimeFigureOut">
              <a:rPr lang="en-ZA" smtClean="0"/>
              <a:t>2026/05/29</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EE3446CA-5FA3-4DF8-94E1-5FDF56B749A8}" type="slidenum">
              <a:rPr lang="en-ZA" smtClean="0"/>
              <a:t>‹#›</a:t>
            </a:fld>
            <a:endParaRPr lang="en-ZA"/>
          </a:p>
        </p:txBody>
      </p:sp>
    </p:spTree>
    <p:extLst>
      <p:ext uri="{BB962C8B-B14F-4D97-AF65-F5344CB8AC3E}">
        <p14:creationId xmlns:p14="http://schemas.microsoft.com/office/powerpoint/2010/main" val="48219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9B0A26-DD89-47A0-A145-1F378298EBB9}" type="datetimeFigureOut">
              <a:rPr lang="en-ZA" smtClean="0"/>
              <a:t>2026/05/29</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EE3446CA-5FA3-4DF8-94E1-5FDF56B749A8}" type="slidenum">
              <a:rPr lang="en-ZA" smtClean="0"/>
              <a:t>‹#›</a:t>
            </a:fld>
            <a:endParaRPr lang="en-ZA"/>
          </a:p>
        </p:txBody>
      </p:sp>
    </p:spTree>
    <p:extLst>
      <p:ext uri="{BB962C8B-B14F-4D97-AF65-F5344CB8AC3E}">
        <p14:creationId xmlns:p14="http://schemas.microsoft.com/office/powerpoint/2010/main" val="30921291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11781" y="2208001"/>
            <a:ext cx="7547028" cy="7728003"/>
          </a:xfrm>
        </p:spPr>
        <p:txBody>
          <a:bodyPr anchor="b"/>
          <a:lstStyle>
            <a:lvl1pPr>
              <a:defRPr sz="8189"/>
            </a:lvl1pPr>
          </a:lstStyle>
          <a:p>
            <a:r>
              <a:rPr lang="en-GB"/>
              <a:t>Click to edit Master title style</a:t>
            </a:r>
            <a:endParaRPr lang="en-US" dirty="0"/>
          </a:p>
        </p:txBody>
      </p:sp>
      <p:sp>
        <p:nvSpPr>
          <p:cNvPr id="3" name="Content Placeholder 2"/>
          <p:cNvSpPr>
            <a:spLocks noGrp="1"/>
          </p:cNvSpPr>
          <p:nvPr>
            <p:ph idx="1"/>
          </p:nvPr>
        </p:nvSpPr>
        <p:spPr>
          <a:xfrm>
            <a:off x="9947942" y="4768676"/>
            <a:ext cx="11846123" cy="23536676"/>
          </a:xfrm>
        </p:spPr>
        <p:txBody>
          <a:bodyPr/>
          <a:lstStyle>
            <a:lvl1pPr>
              <a:defRPr sz="8189"/>
            </a:lvl1pPr>
            <a:lvl2pPr>
              <a:defRPr sz="7165"/>
            </a:lvl2pPr>
            <a:lvl3pPr>
              <a:defRPr sz="6142"/>
            </a:lvl3pPr>
            <a:lvl4pPr>
              <a:defRPr sz="5118"/>
            </a:lvl4pPr>
            <a:lvl5pPr>
              <a:defRPr sz="5118"/>
            </a:lvl5pPr>
            <a:lvl6pPr>
              <a:defRPr sz="5118"/>
            </a:lvl6pPr>
            <a:lvl7pPr>
              <a:defRPr sz="5118"/>
            </a:lvl7pPr>
            <a:lvl8pPr>
              <a:defRPr sz="5118"/>
            </a:lvl8pPr>
            <a:lvl9pPr>
              <a:defRPr sz="5118"/>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611781" y="9936004"/>
            <a:ext cx="7547028" cy="18407676"/>
          </a:xfrm>
        </p:spPr>
        <p:txBody>
          <a:bodyPr/>
          <a:lstStyle>
            <a:lvl1pPr marL="0" indent="0">
              <a:buNone/>
              <a:defRPr sz="4094"/>
            </a:lvl1pPr>
            <a:lvl2pPr marL="1169975" indent="0">
              <a:buNone/>
              <a:defRPr sz="3583"/>
            </a:lvl2pPr>
            <a:lvl3pPr marL="2339950" indent="0">
              <a:buNone/>
              <a:defRPr sz="3071"/>
            </a:lvl3pPr>
            <a:lvl4pPr marL="3509924" indent="0">
              <a:buNone/>
              <a:defRPr sz="2559"/>
            </a:lvl4pPr>
            <a:lvl5pPr marL="4679899" indent="0">
              <a:buNone/>
              <a:defRPr sz="2559"/>
            </a:lvl5pPr>
            <a:lvl6pPr marL="5849874" indent="0">
              <a:buNone/>
              <a:defRPr sz="2559"/>
            </a:lvl6pPr>
            <a:lvl7pPr marL="7019849" indent="0">
              <a:buNone/>
              <a:defRPr sz="2559"/>
            </a:lvl7pPr>
            <a:lvl8pPr marL="8189824" indent="0">
              <a:buNone/>
              <a:defRPr sz="2559"/>
            </a:lvl8pPr>
            <a:lvl9pPr marL="9359798" indent="0">
              <a:buNone/>
              <a:defRPr sz="2559"/>
            </a:lvl9pPr>
          </a:lstStyle>
          <a:p>
            <a:pPr lvl="0"/>
            <a:r>
              <a:rPr lang="en-GB"/>
              <a:t>Click to edit Master text styles</a:t>
            </a:r>
          </a:p>
        </p:txBody>
      </p:sp>
      <p:sp>
        <p:nvSpPr>
          <p:cNvPr id="5" name="Date Placeholder 4"/>
          <p:cNvSpPr>
            <a:spLocks noGrp="1"/>
          </p:cNvSpPr>
          <p:nvPr>
            <p:ph type="dt" sz="half" idx="10"/>
          </p:nvPr>
        </p:nvSpPr>
        <p:spPr/>
        <p:txBody>
          <a:bodyPr/>
          <a:lstStyle/>
          <a:p>
            <a:fld id="{459B0A26-DD89-47A0-A145-1F378298EBB9}" type="datetimeFigureOut">
              <a:rPr lang="en-ZA" smtClean="0"/>
              <a:t>2026/05/29</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EE3446CA-5FA3-4DF8-94E1-5FDF56B749A8}" type="slidenum">
              <a:rPr lang="en-ZA" smtClean="0"/>
              <a:t>‹#›</a:t>
            </a:fld>
            <a:endParaRPr lang="en-ZA"/>
          </a:p>
        </p:txBody>
      </p:sp>
    </p:spTree>
    <p:extLst>
      <p:ext uri="{BB962C8B-B14F-4D97-AF65-F5344CB8AC3E}">
        <p14:creationId xmlns:p14="http://schemas.microsoft.com/office/powerpoint/2010/main" val="18961230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11781" y="2208001"/>
            <a:ext cx="7547028" cy="7728003"/>
          </a:xfrm>
        </p:spPr>
        <p:txBody>
          <a:bodyPr anchor="b"/>
          <a:lstStyle>
            <a:lvl1pPr>
              <a:defRPr sz="8189"/>
            </a:lvl1pPr>
          </a:lstStyle>
          <a:p>
            <a:r>
              <a:rPr lang="en-GB"/>
              <a:t>Click to edit Master title style</a:t>
            </a:r>
            <a:endParaRPr lang="en-US" dirty="0"/>
          </a:p>
        </p:txBody>
      </p:sp>
      <p:sp>
        <p:nvSpPr>
          <p:cNvPr id="3" name="Picture Placeholder 2"/>
          <p:cNvSpPr>
            <a:spLocks noGrp="1" noChangeAspect="1"/>
          </p:cNvSpPr>
          <p:nvPr>
            <p:ph type="pic" idx="1"/>
          </p:nvPr>
        </p:nvSpPr>
        <p:spPr>
          <a:xfrm>
            <a:off x="9947942" y="4768676"/>
            <a:ext cx="11846123" cy="23536676"/>
          </a:xfrm>
        </p:spPr>
        <p:txBody>
          <a:bodyPr anchor="t"/>
          <a:lstStyle>
            <a:lvl1pPr marL="0" indent="0">
              <a:buNone/>
              <a:defRPr sz="8189"/>
            </a:lvl1pPr>
            <a:lvl2pPr marL="1169975" indent="0">
              <a:buNone/>
              <a:defRPr sz="7165"/>
            </a:lvl2pPr>
            <a:lvl3pPr marL="2339950" indent="0">
              <a:buNone/>
              <a:defRPr sz="6142"/>
            </a:lvl3pPr>
            <a:lvl4pPr marL="3509924" indent="0">
              <a:buNone/>
              <a:defRPr sz="5118"/>
            </a:lvl4pPr>
            <a:lvl5pPr marL="4679899" indent="0">
              <a:buNone/>
              <a:defRPr sz="5118"/>
            </a:lvl5pPr>
            <a:lvl6pPr marL="5849874" indent="0">
              <a:buNone/>
              <a:defRPr sz="5118"/>
            </a:lvl6pPr>
            <a:lvl7pPr marL="7019849" indent="0">
              <a:buNone/>
              <a:defRPr sz="5118"/>
            </a:lvl7pPr>
            <a:lvl8pPr marL="8189824" indent="0">
              <a:buNone/>
              <a:defRPr sz="5118"/>
            </a:lvl8pPr>
            <a:lvl9pPr marL="9359798" indent="0">
              <a:buNone/>
              <a:defRPr sz="5118"/>
            </a:lvl9pPr>
          </a:lstStyle>
          <a:p>
            <a:r>
              <a:rPr lang="en-GB"/>
              <a:t>Click icon to add picture</a:t>
            </a:r>
            <a:endParaRPr lang="en-US" dirty="0"/>
          </a:p>
        </p:txBody>
      </p:sp>
      <p:sp>
        <p:nvSpPr>
          <p:cNvPr id="4" name="Text Placeholder 3"/>
          <p:cNvSpPr>
            <a:spLocks noGrp="1"/>
          </p:cNvSpPr>
          <p:nvPr>
            <p:ph type="body" sz="half" idx="2"/>
          </p:nvPr>
        </p:nvSpPr>
        <p:spPr>
          <a:xfrm>
            <a:off x="1611781" y="9936004"/>
            <a:ext cx="7547028" cy="18407676"/>
          </a:xfrm>
        </p:spPr>
        <p:txBody>
          <a:bodyPr/>
          <a:lstStyle>
            <a:lvl1pPr marL="0" indent="0">
              <a:buNone/>
              <a:defRPr sz="4094"/>
            </a:lvl1pPr>
            <a:lvl2pPr marL="1169975" indent="0">
              <a:buNone/>
              <a:defRPr sz="3583"/>
            </a:lvl2pPr>
            <a:lvl3pPr marL="2339950" indent="0">
              <a:buNone/>
              <a:defRPr sz="3071"/>
            </a:lvl3pPr>
            <a:lvl4pPr marL="3509924" indent="0">
              <a:buNone/>
              <a:defRPr sz="2559"/>
            </a:lvl4pPr>
            <a:lvl5pPr marL="4679899" indent="0">
              <a:buNone/>
              <a:defRPr sz="2559"/>
            </a:lvl5pPr>
            <a:lvl6pPr marL="5849874" indent="0">
              <a:buNone/>
              <a:defRPr sz="2559"/>
            </a:lvl6pPr>
            <a:lvl7pPr marL="7019849" indent="0">
              <a:buNone/>
              <a:defRPr sz="2559"/>
            </a:lvl7pPr>
            <a:lvl8pPr marL="8189824" indent="0">
              <a:buNone/>
              <a:defRPr sz="2559"/>
            </a:lvl8pPr>
            <a:lvl9pPr marL="9359798" indent="0">
              <a:buNone/>
              <a:defRPr sz="2559"/>
            </a:lvl9pPr>
          </a:lstStyle>
          <a:p>
            <a:pPr lvl="0"/>
            <a:r>
              <a:rPr lang="en-GB"/>
              <a:t>Click to edit Master text styles</a:t>
            </a:r>
          </a:p>
        </p:txBody>
      </p:sp>
      <p:sp>
        <p:nvSpPr>
          <p:cNvPr id="5" name="Date Placeholder 4"/>
          <p:cNvSpPr>
            <a:spLocks noGrp="1"/>
          </p:cNvSpPr>
          <p:nvPr>
            <p:ph type="dt" sz="half" idx="10"/>
          </p:nvPr>
        </p:nvSpPr>
        <p:spPr/>
        <p:txBody>
          <a:bodyPr/>
          <a:lstStyle/>
          <a:p>
            <a:fld id="{459B0A26-DD89-47A0-A145-1F378298EBB9}" type="datetimeFigureOut">
              <a:rPr lang="en-ZA" smtClean="0"/>
              <a:t>2026/05/29</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EE3446CA-5FA3-4DF8-94E1-5FDF56B749A8}" type="slidenum">
              <a:rPr lang="en-ZA" smtClean="0"/>
              <a:t>‹#›</a:t>
            </a:fld>
            <a:endParaRPr lang="en-ZA"/>
          </a:p>
        </p:txBody>
      </p:sp>
    </p:spTree>
    <p:extLst>
      <p:ext uri="{BB962C8B-B14F-4D97-AF65-F5344CB8AC3E}">
        <p14:creationId xmlns:p14="http://schemas.microsoft.com/office/powerpoint/2010/main" val="2467422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59B0A26-DD89-47A0-A145-1F378298EBB9}" type="datetimeFigureOut">
              <a:rPr lang="en-ZA" smtClean="0"/>
              <a:t>2026/05/29</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EE3446CA-5FA3-4DF8-94E1-5FDF56B749A8}" type="slidenum">
              <a:rPr lang="en-ZA" smtClean="0"/>
              <a:t>‹#›</a:t>
            </a:fld>
            <a:endParaRPr lang="en-ZA"/>
          </a:p>
        </p:txBody>
      </p:sp>
    </p:spTree>
    <p:extLst>
      <p:ext uri="{BB962C8B-B14F-4D97-AF65-F5344CB8AC3E}">
        <p14:creationId xmlns:p14="http://schemas.microsoft.com/office/powerpoint/2010/main" val="42784174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6745447" y="1763334"/>
            <a:ext cx="5045571" cy="2806768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608734" y="1763334"/>
            <a:ext cx="14844216" cy="2806768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59B0A26-DD89-47A0-A145-1F378298EBB9}" type="datetimeFigureOut">
              <a:rPr lang="en-ZA" smtClean="0"/>
              <a:t>2026/05/29</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EE3446CA-5FA3-4DF8-94E1-5FDF56B749A8}" type="slidenum">
              <a:rPr lang="en-ZA" smtClean="0"/>
              <a:t>‹#›</a:t>
            </a:fld>
            <a:endParaRPr lang="en-ZA"/>
          </a:p>
        </p:txBody>
      </p:sp>
    </p:spTree>
    <p:extLst>
      <p:ext uri="{BB962C8B-B14F-4D97-AF65-F5344CB8AC3E}">
        <p14:creationId xmlns:p14="http://schemas.microsoft.com/office/powerpoint/2010/main" val="3721596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08733" y="1763341"/>
            <a:ext cx="20182284" cy="6401672"/>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608733" y="8816670"/>
            <a:ext cx="20182284" cy="2101434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608733" y="30697353"/>
            <a:ext cx="5264944" cy="1763334"/>
          </a:xfrm>
          <a:prstGeom prst="rect">
            <a:avLst/>
          </a:prstGeom>
        </p:spPr>
        <p:txBody>
          <a:bodyPr vert="horz" lIns="91440" tIns="45720" rIns="91440" bIns="45720" rtlCol="0" anchor="ctr"/>
          <a:lstStyle>
            <a:lvl1pPr algn="l">
              <a:defRPr sz="3071">
                <a:solidFill>
                  <a:schemeClr val="tx1">
                    <a:tint val="82000"/>
                  </a:schemeClr>
                </a:solidFill>
              </a:defRPr>
            </a:lvl1pPr>
          </a:lstStyle>
          <a:p>
            <a:fld id="{459B0A26-DD89-47A0-A145-1F378298EBB9}" type="datetimeFigureOut">
              <a:rPr lang="en-ZA" smtClean="0"/>
              <a:t>2026/05/29</a:t>
            </a:fld>
            <a:endParaRPr lang="en-ZA"/>
          </a:p>
        </p:txBody>
      </p:sp>
      <p:sp>
        <p:nvSpPr>
          <p:cNvPr id="5" name="Footer Placeholder 4"/>
          <p:cNvSpPr>
            <a:spLocks noGrp="1"/>
          </p:cNvSpPr>
          <p:nvPr>
            <p:ph type="ftr" sz="quarter" idx="3"/>
          </p:nvPr>
        </p:nvSpPr>
        <p:spPr>
          <a:xfrm>
            <a:off x="7751167" y="30697353"/>
            <a:ext cx="7897416" cy="1763334"/>
          </a:xfrm>
          <a:prstGeom prst="rect">
            <a:avLst/>
          </a:prstGeom>
        </p:spPr>
        <p:txBody>
          <a:bodyPr vert="horz" lIns="91440" tIns="45720" rIns="91440" bIns="45720" rtlCol="0" anchor="ctr"/>
          <a:lstStyle>
            <a:lvl1pPr algn="ctr">
              <a:defRPr sz="3071">
                <a:solidFill>
                  <a:schemeClr val="tx1">
                    <a:tint val="82000"/>
                  </a:schemeClr>
                </a:solidFill>
              </a:defRPr>
            </a:lvl1pPr>
          </a:lstStyle>
          <a:p>
            <a:endParaRPr lang="en-ZA"/>
          </a:p>
        </p:txBody>
      </p:sp>
      <p:sp>
        <p:nvSpPr>
          <p:cNvPr id="6" name="Slide Number Placeholder 5"/>
          <p:cNvSpPr>
            <a:spLocks noGrp="1"/>
          </p:cNvSpPr>
          <p:nvPr>
            <p:ph type="sldNum" sz="quarter" idx="4"/>
          </p:nvPr>
        </p:nvSpPr>
        <p:spPr>
          <a:xfrm>
            <a:off x="16526073" y="30697353"/>
            <a:ext cx="5264944" cy="1763334"/>
          </a:xfrm>
          <a:prstGeom prst="rect">
            <a:avLst/>
          </a:prstGeom>
        </p:spPr>
        <p:txBody>
          <a:bodyPr vert="horz" lIns="91440" tIns="45720" rIns="91440" bIns="45720" rtlCol="0" anchor="ctr"/>
          <a:lstStyle>
            <a:lvl1pPr algn="r">
              <a:defRPr sz="3071">
                <a:solidFill>
                  <a:schemeClr val="tx1">
                    <a:tint val="82000"/>
                  </a:schemeClr>
                </a:solidFill>
              </a:defRPr>
            </a:lvl1pPr>
          </a:lstStyle>
          <a:p>
            <a:fld id="{EE3446CA-5FA3-4DF8-94E1-5FDF56B749A8}" type="slidenum">
              <a:rPr lang="en-ZA" smtClean="0"/>
              <a:t>‹#›</a:t>
            </a:fld>
            <a:endParaRPr lang="en-ZA"/>
          </a:p>
        </p:txBody>
      </p:sp>
    </p:spTree>
    <p:extLst>
      <p:ext uri="{BB962C8B-B14F-4D97-AF65-F5344CB8AC3E}">
        <p14:creationId xmlns:p14="http://schemas.microsoft.com/office/powerpoint/2010/main" val="380991787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2339950" rtl="0" eaLnBrk="1" latinLnBrk="0" hangingPunct="1">
        <a:lnSpc>
          <a:spcPct val="90000"/>
        </a:lnSpc>
        <a:spcBef>
          <a:spcPct val="0"/>
        </a:spcBef>
        <a:buNone/>
        <a:defRPr sz="11260" kern="1200">
          <a:solidFill>
            <a:schemeClr val="tx1"/>
          </a:solidFill>
          <a:latin typeface="+mj-lt"/>
          <a:ea typeface="+mj-ea"/>
          <a:cs typeface="+mj-cs"/>
        </a:defRPr>
      </a:lvl1pPr>
    </p:titleStyle>
    <p:bodyStyle>
      <a:lvl1pPr marL="584987" indent="-584987" algn="l" defTabSz="2339950" rtl="0" eaLnBrk="1" latinLnBrk="0" hangingPunct="1">
        <a:lnSpc>
          <a:spcPct val="90000"/>
        </a:lnSpc>
        <a:spcBef>
          <a:spcPts val="2559"/>
        </a:spcBef>
        <a:buFont typeface="Arial" panose="020B0604020202020204" pitchFamily="34" charset="0"/>
        <a:buChar char="•"/>
        <a:defRPr sz="7165" kern="1200">
          <a:solidFill>
            <a:schemeClr val="tx1"/>
          </a:solidFill>
          <a:latin typeface="+mn-lt"/>
          <a:ea typeface="+mn-ea"/>
          <a:cs typeface="+mn-cs"/>
        </a:defRPr>
      </a:lvl1pPr>
      <a:lvl2pPr marL="1754962" indent="-584987" algn="l" defTabSz="2339950" rtl="0" eaLnBrk="1" latinLnBrk="0" hangingPunct="1">
        <a:lnSpc>
          <a:spcPct val="90000"/>
        </a:lnSpc>
        <a:spcBef>
          <a:spcPts val="1280"/>
        </a:spcBef>
        <a:buFont typeface="Arial" panose="020B0604020202020204" pitchFamily="34" charset="0"/>
        <a:buChar char="•"/>
        <a:defRPr sz="6142" kern="1200">
          <a:solidFill>
            <a:schemeClr val="tx1"/>
          </a:solidFill>
          <a:latin typeface="+mn-lt"/>
          <a:ea typeface="+mn-ea"/>
          <a:cs typeface="+mn-cs"/>
        </a:defRPr>
      </a:lvl2pPr>
      <a:lvl3pPr marL="2924937" indent="-584987" algn="l" defTabSz="2339950" rtl="0" eaLnBrk="1" latinLnBrk="0" hangingPunct="1">
        <a:lnSpc>
          <a:spcPct val="90000"/>
        </a:lnSpc>
        <a:spcBef>
          <a:spcPts val="1280"/>
        </a:spcBef>
        <a:buFont typeface="Arial" panose="020B0604020202020204" pitchFamily="34" charset="0"/>
        <a:buChar char="•"/>
        <a:defRPr sz="5118" kern="1200">
          <a:solidFill>
            <a:schemeClr val="tx1"/>
          </a:solidFill>
          <a:latin typeface="+mn-lt"/>
          <a:ea typeface="+mn-ea"/>
          <a:cs typeface="+mn-cs"/>
        </a:defRPr>
      </a:lvl3pPr>
      <a:lvl4pPr marL="4094912" indent="-584987" algn="l" defTabSz="2339950" rtl="0" eaLnBrk="1" latinLnBrk="0" hangingPunct="1">
        <a:lnSpc>
          <a:spcPct val="90000"/>
        </a:lnSpc>
        <a:spcBef>
          <a:spcPts val="1280"/>
        </a:spcBef>
        <a:buFont typeface="Arial" panose="020B0604020202020204" pitchFamily="34" charset="0"/>
        <a:buChar char="•"/>
        <a:defRPr sz="4606" kern="1200">
          <a:solidFill>
            <a:schemeClr val="tx1"/>
          </a:solidFill>
          <a:latin typeface="+mn-lt"/>
          <a:ea typeface="+mn-ea"/>
          <a:cs typeface="+mn-cs"/>
        </a:defRPr>
      </a:lvl4pPr>
      <a:lvl5pPr marL="5264887" indent="-584987" algn="l" defTabSz="2339950" rtl="0" eaLnBrk="1" latinLnBrk="0" hangingPunct="1">
        <a:lnSpc>
          <a:spcPct val="90000"/>
        </a:lnSpc>
        <a:spcBef>
          <a:spcPts val="1280"/>
        </a:spcBef>
        <a:buFont typeface="Arial" panose="020B0604020202020204" pitchFamily="34" charset="0"/>
        <a:buChar char="•"/>
        <a:defRPr sz="4606" kern="1200">
          <a:solidFill>
            <a:schemeClr val="tx1"/>
          </a:solidFill>
          <a:latin typeface="+mn-lt"/>
          <a:ea typeface="+mn-ea"/>
          <a:cs typeface="+mn-cs"/>
        </a:defRPr>
      </a:lvl5pPr>
      <a:lvl6pPr marL="6434861" indent="-584987" algn="l" defTabSz="2339950" rtl="0" eaLnBrk="1" latinLnBrk="0" hangingPunct="1">
        <a:lnSpc>
          <a:spcPct val="90000"/>
        </a:lnSpc>
        <a:spcBef>
          <a:spcPts val="1280"/>
        </a:spcBef>
        <a:buFont typeface="Arial" panose="020B0604020202020204" pitchFamily="34" charset="0"/>
        <a:buChar char="•"/>
        <a:defRPr sz="4606" kern="1200">
          <a:solidFill>
            <a:schemeClr val="tx1"/>
          </a:solidFill>
          <a:latin typeface="+mn-lt"/>
          <a:ea typeface="+mn-ea"/>
          <a:cs typeface="+mn-cs"/>
        </a:defRPr>
      </a:lvl6pPr>
      <a:lvl7pPr marL="7604836" indent="-584987" algn="l" defTabSz="2339950" rtl="0" eaLnBrk="1" latinLnBrk="0" hangingPunct="1">
        <a:lnSpc>
          <a:spcPct val="90000"/>
        </a:lnSpc>
        <a:spcBef>
          <a:spcPts val="1280"/>
        </a:spcBef>
        <a:buFont typeface="Arial" panose="020B0604020202020204" pitchFamily="34" charset="0"/>
        <a:buChar char="•"/>
        <a:defRPr sz="4606" kern="1200">
          <a:solidFill>
            <a:schemeClr val="tx1"/>
          </a:solidFill>
          <a:latin typeface="+mn-lt"/>
          <a:ea typeface="+mn-ea"/>
          <a:cs typeface="+mn-cs"/>
        </a:defRPr>
      </a:lvl7pPr>
      <a:lvl8pPr marL="8774811" indent="-584987" algn="l" defTabSz="2339950" rtl="0" eaLnBrk="1" latinLnBrk="0" hangingPunct="1">
        <a:lnSpc>
          <a:spcPct val="90000"/>
        </a:lnSpc>
        <a:spcBef>
          <a:spcPts val="1280"/>
        </a:spcBef>
        <a:buFont typeface="Arial" panose="020B0604020202020204" pitchFamily="34" charset="0"/>
        <a:buChar char="•"/>
        <a:defRPr sz="4606" kern="1200">
          <a:solidFill>
            <a:schemeClr val="tx1"/>
          </a:solidFill>
          <a:latin typeface="+mn-lt"/>
          <a:ea typeface="+mn-ea"/>
          <a:cs typeface="+mn-cs"/>
        </a:defRPr>
      </a:lvl8pPr>
      <a:lvl9pPr marL="9944786" indent="-584987" algn="l" defTabSz="2339950" rtl="0" eaLnBrk="1" latinLnBrk="0" hangingPunct="1">
        <a:lnSpc>
          <a:spcPct val="90000"/>
        </a:lnSpc>
        <a:spcBef>
          <a:spcPts val="1280"/>
        </a:spcBef>
        <a:buFont typeface="Arial" panose="020B0604020202020204" pitchFamily="34" charset="0"/>
        <a:buChar char="•"/>
        <a:defRPr sz="4606" kern="1200">
          <a:solidFill>
            <a:schemeClr val="tx1"/>
          </a:solidFill>
          <a:latin typeface="+mn-lt"/>
          <a:ea typeface="+mn-ea"/>
          <a:cs typeface="+mn-cs"/>
        </a:defRPr>
      </a:lvl9pPr>
    </p:bodyStyle>
    <p:otherStyle>
      <a:defPPr>
        <a:defRPr lang="en-US"/>
      </a:defPPr>
      <a:lvl1pPr marL="0" algn="l" defTabSz="2339950" rtl="0" eaLnBrk="1" latinLnBrk="0" hangingPunct="1">
        <a:defRPr sz="4606" kern="1200">
          <a:solidFill>
            <a:schemeClr val="tx1"/>
          </a:solidFill>
          <a:latin typeface="+mn-lt"/>
          <a:ea typeface="+mn-ea"/>
          <a:cs typeface="+mn-cs"/>
        </a:defRPr>
      </a:lvl1pPr>
      <a:lvl2pPr marL="1169975" algn="l" defTabSz="2339950" rtl="0" eaLnBrk="1" latinLnBrk="0" hangingPunct="1">
        <a:defRPr sz="4606" kern="1200">
          <a:solidFill>
            <a:schemeClr val="tx1"/>
          </a:solidFill>
          <a:latin typeface="+mn-lt"/>
          <a:ea typeface="+mn-ea"/>
          <a:cs typeface="+mn-cs"/>
        </a:defRPr>
      </a:lvl2pPr>
      <a:lvl3pPr marL="2339950" algn="l" defTabSz="2339950" rtl="0" eaLnBrk="1" latinLnBrk="0" hangingPunct="1">
        <a:defRPr sz="4606" kern="1200">
          <a:solidFill>
            <a:schemeClr val="tx1"/>
          </a:solidFill>
          <a:latin typeface="+mn-lt"/>
          <a:ea typeface="+mn-ea"/>
          <a:cs typeface="+mn-cs"/>
        </a:defRPr>
      </a:lvl3pPr>
      <a:lvl4pPr marL="3509924" algn="l" defTabSz="2339950" rtl="0" eaLnBrk="1" latinLnBrk="0" hangingPunct="1">
        <a:defRPr sz="4606" kern="1200">
          <a:solidFill>
            <a:schemeClr val="tx1"/>
          </a:solidFill>
          <a:latin typeface="+mn-lt"/>
          <a:ea typeface="+mn-ea"/>
          <a:cs typeface="+mn-cs"/>
        </a:defRPr>
      </a:lvl4pPr>
      <a:lvl5pPr marL="4679899" algn="l" defTabSz="2339950" rtl="0" eaLnBrk="1" latinLnBrk="0" hangingPunct="1">
        <a:defRPr sz="4606" kern="1200">
          <a:solidFill>
            <a:schemeClr val="tx1"/>
          </a:solidFill>
          <a:latin typeface="+mn-lt"/>
          <a:ea typeface="+mn-ea"/>
          <a:cs typeface="+mn-cs"/>
        </a:defRPr>
      </a:lvl5pPr>
      <a:lvl6pPr marL="5849874" algn="l" defTabSz="2339950" rtl="0" eaLnBrk="1" latinLnBrk="0" hangingPunct="1">
        <a:defRPr sz="4606" kern="1200">
          <a:solidFill>
            <a:schemeClr val="tx1"/>
          </a:solidFill>
          <a:latin typeface="+mn-lt"/>
          <a:ea typeface="+mn-ea"/>
          <a:cs typeface="+mn-cs"/>
        </a:defRPr>
      </a:lvl6pPr>
      <a:lvl7pPr marL="7019849" algn="l" defTabSz="2339950" rtl="0" eaLnBrk="1" latinLnBrk="0" hangingPunct="1">
        <a:defRPr sz="4606" kern="1200">
          <a:solidFill>
            <a:schemeClr val="tx1"/>
          </a:solidFill>
          <a:latin typeface="+mn-lt"/>
          <a:ea typeface="+mn-ea"/>
          <a:cs typeface="+mn-cs"/>
        </a:defRPr>
      </a:lvl7pPr>
      <a:lvl8pPr marL="8189824" algn="l" defTabSz="2339950" rtl="0" eaLnBrk="1" latinLnBrk="0" hangingPunct="1">
        <a:defRPr sz="4606" kern="1200">
          <a:solidFill>
            <a:schemeClr val="tx1"/>
          </a:solidFill>
          <a:latin typeface="+mn-lt"/>
          <a:ea typeface="+mn-ea"/>
          <a:cs typeface="+mn-cs"/>
        </a:defRPr>
      </a:lvl8pPr>
      <a:lvl9pPr marL="9359798" algn="l" defTabSz="2339950" rtl="0" eaLnBrk="1" latinLnBrk="0" hangingPunct="1">
        <a:defRPr sz="460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jpe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jpeg"/><Relationship Id="rId9" Type="http://schemas.openxmlformats.org/officeDocument/2006/relationships/image" Target="../media/image7.png"/><Relationship Id="rId14" Type="http://schemas.openxmlformats.org/officeDocument/2006/relationships/image" Target="../media/image1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A4C9B-77AD-642C-7BCB-1273D09B6C2B}"/>
            </a:ext>
          </a:extLst>
        </p:cNvPr>
        <p:cNvGrpSpPr/>
        <p:nvPr/>
      </p:nvGrpSpPr>
      <p:grpSpPr>
        <a:xfrm>
          <a:off x="0" y="0"/>
          <a:ext cx="0" cy="0"/>
          <a:chOff x="0" y="0"/>
          <a:chExt cx="0" cy="0"/>
        </a:xfrm>
      </p:grpSpPr>
      <p:sp>
        <p:nvSpPr>
          <p:cNvPr id="46" name="Rectangle 45">
            <a:extLst>
              <a:ext uri="{FF2B5EF4-FFF2-40B4-BE49-F238E27FC236}">
                <a16:creationId xmlns:a16="http://schemas.microsoft.com/office/drawing/2014/main" id="{E95CB364-D0FA-7D0C-7F75-AB1DFAC6E5B5}"/>
              </a:ext>
            </a:extLst>
          </p:cNvPr>
          <p:cNvSpPr/>
          <p:nvPr/>
        </p:nvSpPr>
        <p:spPr>
          <a:xfrm>
            <a:off x="7980278" y="8645682"/>
            <a:ext cx="7383159" cy="3980852"/>
          </a:xfrm>
          <a:prstGeom prst="rect">
            <a:avLst/>
          </a:prstGeom>
          <a:no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5" name="Rectangle 44">
            <a:extLst>
              <a:ext uri="{FF2B5EF4-FFF2-40B4-BE49-F238E27FC236}">
                <a16:creationId xmlns:a16="http://schemas.microsoft.com/office/drawing/2014/main" id="{F6D80D42-3ACC-38E5-DE42-043AAFD272B2}"/>
              </a:ext>
            </a:extLst>
          </p:cNvPr>
          <p:cNvSpPr/>
          <p:nvPr/>
        </p:nvSpPr>
        <p:spPr>
          <a:xfrm>
            <a:off x="666486" y="8645682"/>
            <a:ext cx="7313792" cy="3980852"/>
          </a:xfrm>
          <a:prstGeom prst="rect">
            <a:avLst/>
          </a:prstGeom>
          <a:no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30" name="Picture 29">
            <a:extLst>
              <a:ext uri="{FF2B5EF4-FFF2-40B4-BE49-F238E27FC236}">
                <a16:creationId xmlns:a16="http://schemas.microsoft.com/office/drawing/2014/main" id="{5E998329-291A-E139-3613-D8B55DC24675}"/>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t="40119" b="44555"/>
          <a:stretch>
            <a:fillRect/>
          </a:stretch>
        </p:blipFill>
        <p:spPr>
          <a:xfrm>
            <a:off x="-1257" y="30739873"/>
            <a:ext cx="23399750" cy="2390794"/>
          </a:xfrm>
          <a:prstGeom prst="rect">
            <a:avLst/>
          </a:prstGeom>
        </p:spPr>
      </p:pic>
      <p:pic>
        <p:nvPicPr>
          <p:cNvPr id="10" name="Picture 9">
            <a:extLst>
              <a:ext uri="{FF2B5EF4-FFF2-40B4-BE49-F238E27FC236}">
                <a16:creationId xmlns:a16="http://schemas.microsoft.com/office/drawing/2014/main" id="{F45CD428-A3C2-BFD2-4154-84080BB1D10A}"/>
              </a:ext>
            </a:extLst>
          </p:cNvPr>
          <p:cNvPicPr>
            <a:picLocks noChangeAspect="1"/>
          </p:cNvPicPr>
          <p:nvPr/>
        </p:nvPicPr>
        <p:blipFill>
          <a:blip r:embed="rId4">
            <a:extLst>
              <a:ext uri="{28A0092B-C50C-407E-A947-70E740481C1C}">
                <a14:useLocalDpi xmlns:a14="http://schemas.microsoft.com/office/drawing/2010/main" val="0"/>
              </a:ext>
            </a:extLst>
          </a:blip>
          <a:srcRect t="13162" b="58971"/>
          <a:stretch>
            <a:fillRect/>
          </a:stretch>
        </p:blipFill>
        <p:spPr>
          <a:xfrm>
            <a:off x="0" y="1"/>
            <a:ext cx="23399750" cy="4347116"/>
          </a:xfrm>
          <a:prstGeom prst="rect">
            <a:avLst/>
          </a:prstGeom>
        </p:spPr>
      </p:pic>
      <p:sp>
        <p:nvSpPr>
          <p:cNvPr id="2" name="Title 1">
            <a:extLst>
              <a:ext uri="{FF2B5EF4-FFF2-40B4-BE49-F238E27FC236}">
                <a16:creationId xmlns:a16="http://schemas.microsoft.com/office/drawing/2014/main" id="{6BE32BF5-4E70-2B76-8C63-139019D799A2}"/>
              </a:ext>
            </a:extLst>
          </p:cNvPr>
          <p:cNvSpPr>
            <a:spLocks noGrp="1"/>
          </p:cNvSpPr>
          <p:nvPr>
            <p:ph type="ctrTitle"/>
          </p:nvPr>
        </p:nvSpPr>
        <p:spPr>
          <a:xfrm>
            <a:off x="659872" y="494662"/>
            <a:ext cx="20591714" cy="2556876"/>
          </a:xfrm>
          <a:noFill/>
        </p:spPr>
        <p:txBody>
          <a:bodyPr anchor="ctr">
            <a:noAutofit/>
          </a:bodyPr>
          <a:lstStyle/>
          <a:p>
            <a:pPr algn="l"/>
            <a:r>
              <a:rPr lang="en-ZA" sz="8500" b="1" dirty="0">
                <a:ln w="9525">
                  <a:solidFill>
                    <a:schemeClr val="bg1"/>
                  </a:solidFill>
                  <a:prstDash val="solid"/>
                </a:ln>
                <a:effectLst>
                  <a:outerShdw blurRad="12700" dist="38100" dir="2700000" algn="tl" rotWithShape="0">
                    <a:schemeClr val="bg1">
                      <a:lumMod val="50000"/>
                    </a:schemeClr>
                  </a:outerShdw>
                </a:effectLst>
              </a:rPr>
              <a:t>Community assembly processes </a:t>
            </a:r>
            <a:br>
              <a:rPr lang="en-ZA" sz="8500" b="1" dirty="0">
                <a:ln w="9525">
                  <a:solidFill>
                    <a:schemeClr val="bg1"/>
                  </a:solidFill>
                  <a:prstDash val="solid"/>
                </a:ln>
                <a:effectLst>
                  <a:outerShdw blurRad="12700" dist="38100" dir="2700000" algn="tl" rotWithShape="0">
                    <a:schemeClr val="bg1">
                      <a:lumMod val="50000"/>
                    </a:schemeClr>
                  </a:outerShdw>
                </a:effectLst>
              </a:rPr>
            </a:br>
            <a:r>
              <a:rPr lang="en-ZA" sz="8500" b="1" dirty="0">
                <a:ln w="9525">
                  <a:solidFill>
                    <a:schemeClr val="bg1"/>
                  </a:solidFill>
                  <a:prstDash val="solid"/>
                </a:ln>
                <a:effectLst>
                  <a:outerShdw blurRad="12700" dist="38100" dir="2700000" algn="tl" rotWithShape="0">
                    <a:schemeClr val="bg1">
                      <a:lumMod val="50000"/>
                    </a:schemeClr>
                  </a:outerShdw>
                </a:effectLst>
              </a:rPr>
              <a:t>in a montane grassland are not </a:t>
            </a:r>
            <a:br>
              <a:rPr lang="en-ZA" sz="8500" b="1" dirty="0">
                <a:ln w="9525">
                  <a:solidFill>
                    <a:schemeClr val="bg1"/>
                  </a:solidFill>
                  <a:prstDash val="solid"/>
                </a:ln>
                <a:effectLst>
                  <a:outerShdw blurRad="12700" dist="38100" dir="2700000" algn="tl" rotWithShape="0">
                    <a:schemeClr val="bg1">
                      <a:lumMod val="50000"/>
                    </a:schemeClr>
                  </a:outerShdw>
                </a:effectLst>
              </a:rPr>
            </a:br>
            <a:r>
              <a:rPr lang="en-ZA" sz="8500" b="1" dirty="0">
                <a:ln w="9525">
                  <a:solidFill>
                    <a:schemeClr val="bg1"/>
                  </a:solidFill>
                  <a:prstDash val="solid"/>
                </a:ln>
                <a:effectLst>
                  <a:outerShdw blurRad="12700" dist="38100" dir="2700000" algn="tl" rotWithShape="0">
                    <a:schemeClr val="bg1">
                      <a:lumMod val="50000"/>
                    </a:schemeClr>
                  </a:outerShdw>
                </a:effectLst>
              </a:rPr>
              <a:t>driven by environmental factors</a:t>
            </a:r>
          </a:p>
        </p:txBody>
      </p:sp>
      <p:sp>
        <p:nvSpPr>
          <p:cNvPr id="4" name="Rectangle 3">
            <a:extLst>
              <a:ext uri="{FF2B5EF4-FFF2-40B4-BE49-F238E27FC236}">
                <a16:creationId xmlns:a16="http://schemas.microsoft.com/office/drawing/2014/main" id="{877E9191-3EA4-2FE9-AC07-8AEB5CD152AC}"/>
              </a:ext>
            </a:extLst>
          </p:cNvPr>
          <p:cNvSpPr/>
          <p:nvPr/>
        </p:nvSpPr>
        <p:spPr>
          <a:xfrm>
            <a:off x="483053" y="4550499"/>
            <a:ext cx="14826330" cy="36030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numCol="1" spcCol="360000" rtlCol="0" anchor="ctr"/>
          <a:lstStyle/>
          <a:p>
            <a:pPr algn="just"/>
            <a:r>
              <a:rPr lang="en-ZA" sz="2800" dirty="0">
                <a:solidFill>
                  <a:schemeClr val="tx1"/>
                </a:solidFill>
              </a:rPr>
              <a:t>There are two main models of community assembly:</a:t>
            </a:r>
          </a:p>
          <a:p>
            <a:pPr marL="350535" indent="-350535" algn="just">
              <a:buFont typeface="Arial" panose="020B0604020202020204" pitchFamily="34" charset="0"/>
              <a:buChar char="•"/>
            </a:pPr>
            <a:r>
              <a:rPr lang="en-ZA" sz="2800" b="1" dirty="0">
                <a:solidFill>
                  <a:schemeClr val="tx1"/>
                </a:solidFill>
              </a:rPr>
              <a:t>Environmental filtering: </a:t>
            </a:r>
            <a:r>
              <a:rPr lang="en-ZA" sz="2800" dirty="0">
                <a:solidFill>
                  <a:schemeClr val="tx1"/>
                </a:solidFill>
              </a:rPr>
              <a:t>The environment filters out species that do not have appropriate traits, creating a pattern of trait convergence toward an optimum trait.</a:t>
            </a:r>
          </a:p>
          <a:p>
            <a:pPr marL="350535" indent="-350535" algn="just">
              <a:buFont typeface="Arial" panose="020B0604020202020204" pitchFamily="34" charset="0"/>
              <a:buChar char="•"/>
            </a:pPr>
            <a:r>
              <a:rPr lang="en-ZA" sz="2800" b="1" dirty="0">
                <a:solidFill>
                  <a:schemeClr val="tx1"/>
                </a:solidFill>
              </a:rPr>
              <a:t>Limiting similarity: </a:t>
            </a:r>
            <a:r>
              <a:rPr lang="en-ZA" sz="2800" dirty="0">
                <a:solidFill>
                  <a:schemeClr val="tx1"/>
                </a:solidFill>
              </a:rPr>
              <a:t>Competition excludes species with similar traits, creating a pattern of trait divergence. </a:t>
            </a:r>
            <a:r>
              <a:rPr lang="en-ZA" sz="2800" b="1" dirty="0">
                <a:solidFill>
                  <a:schemeClr val="tx1"/>
                </a:solidFill>
              </a:rPr>
              <a:t> </a:t>
            </a:r>
          </a:p>
          <a:p>
            <a:pPr algn="just"/>
            <a:r>
              <a:rPr lang="en-ZA" sz="2800" dirty="0">
                <a:solidFill>
                  <a:schemeClr val="tx1"/>
                </a:solidFill>
              </a:rPr>
              <a:t>The importance of environmental filtering in community assembly is expected to increase with environmental severity. However, community assembly mechanisms may vary considerably at fine scales. </a:t>
            </a:r>
          </a:p>
        </p:txBody>
      </p:sp>
      <p:sp>
        <p:nvSpPr>
          <p:cNvPr id="6" name="Rectangle 5">
            <a:extLst>
              <a:ext uri="{FF2B5EF4-FFF2-40B4-BE49-F238E27FC236}">
                <a16:creationId xmlns:a16="http://schemas.microsoft.com/office/drawing/2014/main" id="{981D2FAB-25F5-C33E-ABB1-1777E7B7817D}"/>
              </a:ext>
            </a:extLst>
          </p:cNvPr>
          <p:cNvSpPr/>
          <p:nvPr/>
        </p:nvSpPr>
        <p:spPr>
          <a:xfrm>
            <a:off x="565262" y="14297200"/>
            <a:ext cx="22250813" cy="37692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numCol="2" spcCol="360000" rtlCol="0" anchor="ctr"/>
          <a:lstStyle/>
          <a:p>
            <a:pPr marL="350535" indent="-350535" algn="just">
              <a:buFont typeface="Arial" panose="020B0604020202020204" pitchFamily="34" charset="0"/>
              <a:buChar char="•"/>
            </a:pPr>
            <a:r>
              <a:rPr lang="en-ZA" sz="2800" dirty="0">
                <a:solidFill>
                  <a:schemeClr val="tx1"/>
                </a:solidFill>
              </a:rPr>
              <a:t>Species composition, functional trait (plant height and specific leaf area [SLA]) and microenvironmental data were collected from three sites in the Maloti-Drakensberg spanning an elevational gradient of 1000 m (Fig. 1). </a:t>
            </a:r>
          </a:p>
          <a:p>
            <a:pPr marL="350535" indent="-350535" algn="just">
              <a:buFont typeface="Arial" panose="020B0604020202020204" pitchFamily="34" charset="0"/>
              <a:buChar char="•"/>
            </a:pPr>
            <a:r>
              <a:rPr lang="en-ZA" sz="2800" dirty="0">
                <a:solidFill>
                  <a:schemeClr val="tx1"/>
                </a:solidFill>
              </a:rPr>
              <a:t>Data was collected in sampling grids consisting 160 contiguous 1 m</a:t>
            </a:r>
            <a:r>
              <a:rPr lang="en-ZA" sz="2800" baseline="30000" dirty="0">
                <a:solidFill>
                  <a:schemeClr val="tx1"/>
                </a:solidFill>
              </a:rPr>
              <a:t>2</a:t>
            </a:r>
            <a:r>
              <a:rPr lang="en-ZA" sz="2800" dirty="0">
                <a:solidFill>
                  <a:schemeClr val="tx1"/>
                </a:solidFill>
              </a:rPr>
              <a:t> cells. </a:t>
            </a:r>
          </a:p>
          <a:p>
            <a:pPr marL="350535" indent="-350535" algn="just">
              <a:buFont typeface="Arial" panose="020B0604020202020204" pitchFamily="34" charset="0"/>
              <a:buChar char="•"/>
            </a:pPr>
            <a:r>
              <a:rPr lang="en-ZA" sz="2800" dirty="0">
                <a:solidFill>
                  <a:schemeClr val="tx1"/>
                </a:solidFill>
              </a:rPr>
              <a:t>To determine whether cell-level trait diversity (</a:t>
            </a:r>
            <a:r>
              <a:rPr lang="en-ZA" sz="2800" dirty="0" err="1">
                <a:solidFill>
                  <a:schemeClr val="tx1"/>
                </a:solidFill>
              </a:rPr>
              <a:t>RaoQ</a:t>
            </a:r>
            <a:r>
              <a:rPr lang="en-ZA" sz="2800" dirty="0">
                <a:solidFill>
                  <a:schemeClr val="tx1"/>
                </a:solidFill>
              </a:rPr>
              <a:t>) differed from a null model of random assembly, we calculated a standardized effect size (SES)</a:t>
            </a:r>
          </a:p>
          <a:p>
            <a:pPr marL="350535" indent="-350535" algn="just">
              <a:buFont typeface="Arial" panose="020B0604020202020204" pitchFamily="34" charset="0"/>
              <a:buChar char="•"/>
            </a:pPr>
            <a:r>
              <a:rPr lang="en-ZA" sz="2800" b="1" dirty="0">
                <a:solidFill>
                  <a:schemeClr val="tx1"/>
                </a:solidFill>
              </a:rPr>
              <a:t>SES &gt; 0</a:t>
            </a:r>
            <a:r>
              <a:rPr lang="en-ZA" sz="2800" dirty="0">
                <a:solidFill>
                  <a:schemeClr val="tx1"/>
                </a:solidFill>
              </a:rPr>
              <a:t> indicates greater trait diversity than expected under random assembly (indicative of </a:t>
            </a:r>
            <a:r>
              <a:rPr lang="en-ZA" sz="2800" b="1" dirty="0">
                <a:solidFill>
                  <a:schemeClr val="tx1"/>
                </a:solidFill>
              </a:rPr>
              <a:t>limiting similarity</a:t>
            </a:r>
            <a:r>
              <a:rPr lang="en-ZA" sz="2800" dirty="0">
                <a:solidFill>
                  <a:schemeClr val="tx1"/>
                </a:solidFill>
              </a:rPr>
              <a:t>).</a:t>
            </a:r>
          </a:p>
          <a:p>
            <a:pPr marL="350535" indent="-350535" algn="just">
              <a:buFont typeface="Arial" panose="020B0604020202020204" pitchFamily="34" charset="0"/>
              <a:buChar char="•"/>
            </a:pPr>
            <a:r>
              <a:rPr lang="en-ZA" sz="2800" b="1" dirty="0">
                <a:solidFill>
                  <a:schemeClr val="tx1"/>
                </a:solidFill>
              </a:rPr>
              <a:t>SES &lt; 0 </a:t>
            </a:r>
            <a:r>
              <a:rPr lang="en-ZA" sz="2800" dirty="0">
                <a:solidFill>
                  <a:schemeClr val="tx1"/>
                </a:solidFill>
              </a:rPr>
              <a:t>indicates lower trait diversity than expected (indicative of </a:t>
            </a:r>
            <a:r>
              <a:rPr lang="en-ZA" sz="2800" b="1" dirty="0">
                <a:solidFill>
                  <a:schemeClr val="tx1"/>
                </a:solidFill>
              </a:rPr>
              <a:t>environmental filtering</a:t>
            </a:r>
            <a:r>
              <a:rPr lang="en-ZA" sz="2800" dirty="0">
                <a:solidFill>
                  <a:schemeClr val="tx1"/>
                </a:solidFill>
              </a:rPr>
              <a:t>). </a:t>
            </a:r>
          </a:p>
          <a:p>
            <a:pPr marL="350535" indent="-350535" algn="just">
              <a:buFont typeface="Arial" panose="020B0604020202020204" pitchFamily="34" charset="0"/>
              <a:buChar char="•"/>
            </a:pPr>
            <a:r>
              <a:rPr lang="en-ZA" sz="2800" dirty="0">
                <a:solidFill>
                  <a:schemeClr val="tx1"/>
                </a:solidFill>
              </a:rPr>
              <a:t>Generalized linear mixed effect models: SES ~ elevation + microenvironmental variables + (1|grid)</a:t>
            </a:r>
          </a:p>
        </p:txBody>
      </p:sp>
      <p:sp>
        <p:nvSpPr>
          <p:cNvPr id="9" name="Rectangle 8">
            <a:extLst>
              <a:ext uri="{FF2B5EF4-FFF2-40B4-BE49-F238E27FC236}">
                <a16:creationId xmlns:a16="http://schemas.microsoft.com/office/drawing/2014/main" id="{727ACE3A-D9C9-0B46-86E8-6C1D787BC87B}"/>
              </a:ext>
            </a:extLst>
          </p:cNvPr>
          <p:cNvSpPr/>
          <p:nvPr/>
        </p:nvSpPr>
        <p:spPr>
          <a:xfrm>
            <a:off x="547853" y="26536796"/>
            <a:ext cx="22252059" cy="40554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numCol="2" spcCol="360000" rtlCol="0" anchor="ctr"/>
          <a:lstStyle/>
          <a:p>
            <a:pPr marL="457200" indent="-457200" algn="just">
              <a:buFont typeface="Arial" panose="020B0604020202020204" pitchFamily="34" charset="0"/>
              <a:buChar char="•"/>
            </a:pPr>
            <a:r>
              <a:rPr lang="en-ZA" sz="2800" dirty="0">
                <a:solidFill>
                  <a:schemeClr val="tx1"/>
                </a:solidFill>
              </a:rPr>
              <a:t>Models explained little variation in the SES of plant height </a:t>
            </a:r>
            <a:r>
              <a:rPr lang="pt-BR" sz="2800" dirty="0">
                <a:solidFill>
                  <a:schemeClr val="tx1"/>
                </a:solidFill>
              </a:rPr>
              <a:t>(marginal R</a:t>
            </a:r>
            <a:r>
              <a:rPr lang="pt-BR" sz="2800" baseline="30000" dirty="0">
                <a:solidFill>
                  <a:schemeClr val="tx1"/>
                </a:solidFill>
              </a:rPr>
              <a:t>2</a:t>
            </a:r>
            <a:r>
              <a:rPr lang="pt-BR" sz="2800" dirty="0">
                <a:solidFill>
                  <a:schemeClr val="tx1"/>
                </a:solidFill>
              </a:rPr>
              <a:t> = 0.09, conditional R</a:t>
            </a:r>
            <a:r>
              <a:rPr lang="pt-BR" sz="2800" baseline="30000" dirty="0">
                <a:solidFill>
                  <a:schemeClr val="tx1"/>
                </a:solidFill>
              </a:rPr>
              <a:t>2</a:t>
            </a:r>
            <a:r>
              <a:rPr lang="pt-BR" sz="2800" dirty="0">
                <a:solidFill>
                  <a:schemeClr val="tx1"/>
                </a:solidFill>
              </a:rPr>
              <a:t> = 0.11)</a:t>
            </a:r>
            <a:r>
              <a:rPr lang="en-ZA" sz="2800" dirty="0">
                <a:solidFill>
                  <a:schemeClr val="tx1"/>
                </a:solidFill>
              </a:rPr>
              <a:t>  and SLA </a:t>
            </a:r>
            <a:r>
              <a:rPr lang="pt-BR" sz="2800" dirty="0">
                <a:solidFill>
                  <a:schemeClr val="tx1"/>
                </a:solidFill>
              </a:rPr>
              <a:t>(marginal R</a:t>
            </a:r>
            <a:r>
              <a:rPr lang="pt-BR" sz="2800" baseline="30000" dirty="0">
                <a:solidFill>
                  <a:schemeClr val="tx1"/>
                </a:solidFill>
              </a:rPr>
              <a:t>2</a:t>
            </a:r>
            <a:r>
              <a:rPr lang="pt-BR" sz="2800" dirty="0">
                <a:solidFill>
                  <a:schemeClr val="tx1"/>
                </a:solidFill>
              </a:rPr>
              <a:t> = 0.22, conditional R</a:t>
            </a:r>
            <a:r>
              <a:rPr lang="pt-BR" sz="2800" baseline="30000" dirty="0">
                <a:solidFill>
                  <a:schemeClr val="tx1"/>
                </a:solidFill>
              </a:rPr>
              <a:t>2</a:t>
            </a:r>
            <a:r>
              <a:rPr lang="pt-BR" sz="2800" dirty="0">
                <a:solidFill>
                  <a:schemeClr val="tx1"/>
                </a:solidFill>
              </a:rPr>
              <a:t> = 0.27). </a:t>
            </a:r>
          </a:p>
          <a:p>
            <a:pPr marL="457200" indent="-457200" algn="just">
              <a:buFont typeface="Arial" panose="020B0604020202020204" pitchFamily="34" charset="0"/>
              <a:buChar char="•"/>
            </a:pPr>
            <a:r>
              <a:rPr lang="pt-BR" sz="2800" dirty="0">
                <a:solidFill>
                  <a:schemeClr val="tx1"/>
                </a:solidFill>
              </a:rPr>
              <a:t>Elevation was the most important variable in predicting the deviation of  diversity in height and SLA from  random assembly (Fig. 2), although environmental filtering was the dominant assembly mechanism for plant height and SLA at all elevations (Fig. 3).</a:t>
            </a:r>
          </a:p>
          <a:p>
            <a:pPr marL="457200" indent="-457200" algn="just">
              <a:buFont typeface="Arial" panose="020B0604020202020204" pitchFamily="34" charset="0"/>
              <a:buChar char="•"/>
            </a:pPr>
            <a:r>
              <a:rPr lang="en-GB" sz="2800" dirty="0">
                <a:solidFill>
                  <a:schemeClr val="tx1"/>
                </a:solidFill>
              </a:rPr>
              <a:t>Environmental filtering shifted communities toward increasingly shorter height with elevation, likely due to the increased cold tolerance of short- statured plants </a:t>
            </a:r>
            <a:r>
              <a:rPr lang="pt-BR" sz="2800" dirty="0">
                <a:solidFill>
                  <a:schemeClr val="tx1"/>
                </a:solidFill>
              </a:rPr>
              <a:t>(Fig. 4). </a:t>
            </a:r>
          </a:p>
          <a:p>
            <a:pPr marL="457200" indent="-457200" algn="just">
              <a:buFont typeface="Arial" panose="020B0604020202020204" pitchFamily="34" charset="0"/>
              <a:buChar char="•"/>
            </a:pPr>
            <a:r>
              <a:rPr lang="en-GB" sz="2800" dirty="0">
                <a:solidFill>
                  <a:schemeClr val="tx1"/>
                </a:solidFill>
              </a:rPr>
              <a:t>The SLA of communities were filtered toward conservative leaf-economic strategies at the low and high elevation, but selection shifted to a more acquisitive leaf-economic strategy at the mid elevation </a:t>
            </a:r>
            <a:r>
              <a:rPr lang="pt-BR" sz="2800" dirty="0">
                <a:solidFill>
                  <a:schemeClr val="tx1"/>
                </a:solidFill>
              </a:rPr>
              <a:t>(Fig. 4). </a:t>
            </a:r>
            <a:r>
              <a:rPr lang="en-GB" sz="2800" dirty="0">
                <a:solidFill>
                  <a:schemeClr val="tx1"/>
                </a:solidFill>
              </a:rPr>
              <a:t>This may reflect reduced temperature constraints on growth, or a competitive advantage of high-SLA species at the mid elevation. </a:t>
            </a:r>
          </a:p>
          <a:p>
            <a:pPr marL="457200" indent="-457200" algn="just">
              <a:buFont typeface="Arial" panose="020B0604020202020204" pitchFamily="34" charset="0"/>
              <a:buChar char="•"/>
            </a:pPr>
            <a:r>
              <a:rPr lang="en-GB" sz="2800" dirty="0">
                <a:solidFill>
                  <a:schemeClr val="tx1"/>
                </a:solidFill>
              </a:rPr>
              <a:t>Microenvironmental variation only weakly explained fine-scale variation in SES, suggesting that fine-scale variation in community assembly signatures may be the result of stochastic processes. </a:t>
            </a:r>
          </a:p>
        </p:txBody>
      </p:sp>
      <p:sp>
        <p:nvSpPr>
          <p:cNvPr id="12" name="Rectangle 11">
            <a:extLst>
              <a:ext uri="{FF2B5EF4-FFF2-40B4-BE49-F238E27FC236}">
                <a16:creationId xmlns:a16="http://schemas.microsoft.com/office/drawing/2014/main" id="{A6C98633-2047-859D-83AE-4C4191E10AD7}"/>
              </a:ext>
            </a:extLst>
          </p:cNvPr>
          <p:cNvSpPr/>
          <p:nvPr/>
        </p:nvSpPr>
        <p:spPr>
          <a:xfrm>
            <a:off x="665573" y="3445287"/>
            <a:ext cx="22134341" cy="944967"/>
          </a:xfrm>
          <a:prstGeom prst="rect">
            <a:avLst/>
          </a:prstGeom>
          <a:noFill/>
        </p:spPr>
        <p:txBody>
          <a:bodyPr vert="horz" lIns="70103" tIns="35051" rIns="70103" bIns="35051" rtlCol="0" anchor="ctr">
            <a:noAutofit/>
          </a:bodyPr>
          <a:lstStyle/>
          <a:p>
            <a:pPr defTabSz="2208162">
              <a:lnSpc>
                <a:spcPct val="90000"/>
              </a:lnSpc>
              <a:spcBef>
                <a:spcPct val="0"/>
              </a:spcBef>
            </a:pPr>
            <a:r>
              <a:rPr lang="en-ZA" sz="40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ea typeface="+mj-ea"/>
                <a:cs typeface="+mj-cs"/>
              </a:rPr>
              <a:t> </a:t>
            </a:r>
            <a:r>
              <a:rPr lang="en-ZA" sz="4000" b="1" dirty="0">
                <a:ln w="10160">
                  <a:solidFill>
                    <a:schemeClr val="tx1"/>
                  </a:solidFill>
                  <a:prstDash val="solid"/>
                </a:ln>
                <a:solidFill>
                  <a:srgbClr val="FFFFFF"/>
                </a:solidFill>
                <a:effectLst>
                  <a:outerShdw blurRad="38100" dist="22860" dir="5400000" algn="tl" rotWithShape="0">
                    <a:srgbClr val="000000">
                      <a:alpha val="30000"/>
                    </a:srgbClr>
                  </a:outerShdw>
                </a:effectLst>
                <a:highlight>
                  <a:srgbClr val="FF9966"/>
                </a:highlight>
                <a:latin typeface="+mj-lt"/>
                <a:ea typeface="+mj-ea"/>
                <a:cs typeface="+mj-cs"/>
              </a:rPr>
              <a:t>Imke Chrissie Smit</a:t>
            </a:r>
            <a:r>
              <a:rPr lang="en-ZA" sz="4000" b="1" baseline="30000" dirty="0">
                <a:ln w="10160">
                  <a:solidFill>
                    <a:schemeClr val="tx1"/>
                  </a:solidFill>
                  <a:prstDash val="solid"/>
                </a:ln>
                <a:solidFill>
                  <a:srgbClr val="FFFFFF"/>
                </a:solidFill>
                <a:effectLst>
                  <a:outerShdw blurRad="38100" dist="22860" dir="5400000" algn="tl" rotWithShape="0">
                    <a:srgbClr val="000000">
                      <a:alpha val="30000"/>
                    </a:srgbClr>
                  </a:outerShdw>
                </a:effectLst>
                <a:highlight>
                  <a:srgbClr val="FF9966"/>
                </a:highlight>
                <a:latin typeface="+mj-lt"/>
                <a:ea typeface="+mj-ea"/>
                <a:cs typeface="+mj-cs"/>
              </a:rPr>
              <a:t>1</a:t>
            </a:r>
            <a:r>
              <a:rPr lang="en-ZA" sz="4000" b="1" dirty="0">
                <a:ln w="10160">
                  <a:solidFill>
                    <a:schemeClr val="tx1"/>
                  </a:solidFill>
                  <a:prstDash val="solid"/>
                </a:ln>
                <a:solidFill>
                  <a:srgbClr val="FFFFFF"/>
                </a:solidFill>
                <a:effectLst>
                  <a:outerShdw blurRad="38100" dist="22860" dir="5400000" algn="tl" rotWithShape="0">
                    <a:srgbClr val="000000">
                      <a:alpha val="30000"/>
                    </a:srgbClr>
                  </a:outerShdw>
                </a:effectLst>
                <a:latin typeface="+mj-lt"/>
                <a:ea typeface="+mj-ea"/>
                <a:cs typeface="+mj-cs"/>
              </a:rPr>
              <a:t>,  Morgan Raath-Krüger</a:t>
            </a:r>
            <a:r>
              <a:rPr lang="en-ZA" sz="4000" b="1" baseline="30000" dirty="0">
                <a:ln w="10160">
                  <a:solidFill>
                    <a:schemeClr val="tx1"/>
                  </a:solidFill>
                  <a:prstDash val="solid"/>
                </a:ln>
                <a:solidFill>
                  <a:srgbClr val="FFFFFF"/>
                </a:solidFill>
                <a:effectLst>
                  <a:outerShdw blurRad="38100" dist="22860" dir="5400000" algn="tl" rotWithShape="0">
                    <a:srgbClr val="000000">
                      <a:alpha val="30000"/>
                    </a:srgbClr>
                  </a:outerShdw>
                </a:effectLst>
                <a:latin typeface="+mj-lt"/>
                <a:ea typeface="+mj-ea"/>
                <a:cs typeface="+mj-cs"/>
              </a:rPr>
              <a:t>2</a:t>
            </a:r>
            <a:r>
              <a:rPr lang="en-ZA" sz="4000" b="1" dirty="0">
                <a:ln w="10160">
                  <a:solidFill>
                    <a:schemeClr val="tx1"/>
                  </a:solidFill>
                  <a:prstDash val="solid"/>
                </a:ln>
                <a:solidFill>
                  <a:srgbClr val="FFFFFF"/>
                </a:solidFill>
                <a:effectLst>
                  <a:outerShdw blurRad="38100" dist="22860" dir="5400000" algn="tl" rotWithShape="0">
                    <a:srgbClr val="000000">
                      <a:alpha val="30000"/>
                    </a:srgbClr>
                  </a:outerShdw>
                </a:effectLst>
                <a:latin typeface="+mj-lt"/>
                <a:ea typeface="+mj-ea"/>
                <a:cs typeface="+mj-cs"/>
              </a:rPr>
              <a:t>,  Ralph Clark</a:t>
            </a:r>
            <a:r>
              <a:rPr lang="en-ZA" sz="4000" b="1" baseline="30000" dirty="0">
                <a:ln w="10160">
                  <a:solidFill>
                    <a:schemeClr val="tx1"/>
                  </a:solidFill>
                  <a:prstDash val="solid"/>
                </a:ln>
                <a:solidFill>
                  <a:srgbClr val="FFFFFF"/>
                </a:solidFill>
                <a:effectLst>
                  <a:outerShdw blurRad="38100" dist="22860" dir="5400000" algn="tl" rotWithShape="0">
                    <a:srgbClr val="000000">
                      <a:alpha val="30000"/>
                    </a:srgbClr>
                  </a:outerShdw>
                </a:effectLst>
                <a:latin typeface="+mj-lt"/>
                <a:ea typeface="+mj-ea"/>
                <a:cs typeface="+mj-cs"/>
              </a:rPr>
              <a:t>3</a:t>
            </a:r>
            <a:r>
              <a:rPr lang="en-ZA" sz="4000" b="1" dirty="0">
                <a:ln w="10160">
                  <a:solidFill>
                    <a:schemeClr val="tx1"/>
                  </a:solidFill>
                  <a:prstDash val="solid"/>
                </a:ln>
                <a:solidFill>
                  <a:srgbClr val="FFFFFF"/>
                </a:solidFill>
                <a:effectLst>
                  <a:outerShdw blurRad="38100" dist="22860" dir="5400000" algn="tl" rotWithShape="0">
                    <a:srgbClr val="000000">
                      <a:alpha val="30000"/>
                    </a:srgbClr>
                  </a:outerShdw>
                </a:effectLst>
                <a:latin typeface="+mj-lt"/>
                <a:ea typeface="+mj-ea"/>
                <a:cs typeface="+mj-cs"/>
              </a:rPr>
              <a:t>,   Aud Helen Halbritter</a:t>
            </a:r>
            <a:r>
              <a:rPr lang="en-ZA" sz="4000" b="1" baseline="30000" dirty="0">
                <a:ln w="10160">
                  <a:solidFill>
                    <a:schemeClr val="tx1"/>
                  </a:solidFill>
                  <a:prstDash val="solid"/>
                </a:ln>
                <a:solidFill>
                  <a:srgbClr val="FFFFFF"/>
                </a:solidFill>
                <a:effectLst>
                  <a:outerShdw blurRad="38100" dist="22860" dir="5400000" algn="tl" rotWithShape="0">
                    <a:srgbClr val="000000">
                      <a:alpha val="30000"/>
                    </a:srgbClr>
                  </a:outerShdw>
                </a:effectLst>
                <a:latin typeface="+mj-lt"/>
                <a:ea typeface="+mj-ea"/>
                <a:cs typeface="+mj-cs"/>
              </a:rPr>
              <a:t>4</a:t>
            </a:r>
            <a:r>
              <a:rPr lang="en-ZA" sz="4000" b="1" dirty="0">
                <a:ln w="10160">
                  <a:solidFill>
                    <a:schemeClr val="tx1"/>
                  </a:solidFill>
                  <a:prstDash val="solid"/>
                </a:ln>
                <a:solidFill>
                  <a:srgbClr val="FFFFFF"/>
                </a:solidFill>
                <a:effectLst>
                  <a:outerShdw blurRad="38100" dist="22860" dir="5400000" algn="tl" rotWithShape="0">
                    <a:srgbClr val="000000">
                      <a:alpha val="30000"/>
                    </a:srgbClr>
                  </a:outerShdw>
                </a:effectLst>
                <a:latin typeface="+mj-lt"/>
                <a:ea typeface="+mj-ea"/>
                <a:cs typeface="+mj-cs"/>
              </a:rPr>
              <a:t>,  Peter le Roux</a:t>
            </a:r>
            <a:r>
              <a:rPr lang="en-ZA" sz="4000" b="1" baseline="30000" dirty="0">
                <a:ln w="10160">
                  <a:solidFill>
                    <a:schemeClr val="tx1"/>
                  </a:solidFill>
                  <a:prstDash val="solid"/>
                </a:ln>
                <a:solidFill>
                  <a:srgbClr val="FFFFFF"/>
                </a:solidFill>
                <a:effectLst>
                  <a:outerShdw blurRad="38100" dist="22860" dir="5400000" algn="tl" rotWithShape="0">
                    <a:srgbClr val="000000">
                      <a:alpha val="30000"/>
                    </a:srgbClr>
                  </a:outerShdw>
                </a:effectLst>
                <a:latin typeface="+mj-lt"/>
                <a:ea typeface="+mj-ea"/>
                <a:cs typeface="+mj-cs"/>
              </a:rPr>
              <a:t>1</a:t>
            </a:r>
            <a:endParaRPr lang="en-ZA" sz="4000" b="1" dirty="0">
              <a:ln w="10160">
                <a:solidFill>
                  <a:schemeClr val="tx1"/>
                </a:solidFill>
                <a:prstDash val="solid"/>
              </a:ln>
              <a:solidFill>
                <a:srgbClr val="FFFFFF"/>
              </a:solidFill>
              <a:effectLst>
                <a:outerShdw blurRad="38100" dist="22860" dir="5400000" algn="tl" rotWithShape="0">
                  <a:srgbClr val="000000">
                    <a:alpha val="30000"/>
                  </a:srgbClr>
                </a:outerShdw>
              </a:effectLst>
              <a:latin typeface="+mj-lt"/>
              <a:ea typeface="+mj-ea"/>
              <a:cs typeface="+mj-cs"/>
            </a:endParaRPr>
          </a:p>
        </p:txBody>
      </p:sp>
      <p:sp>
        <p:nvSpPr>
          <p:cNvPr id="15" name="Rectangle 14">
            <a:extLst>
              <a:ext uri="{FF2B5EF4-FFF2-40B4-BE49-F238E27FC236}">
                <a16:creationId xmlns:a16="http://schemas.microsoft.com/office/drawing/2014/main" id="{B183B6A6-2818-329C-6D7B-E289D223A987}"/>
              </a:ext>
            </a:extLst>
          </p:cNvPr>
          <p:cNvSpPr/>
          <p:nvPr/>
        </p:nvSpPr>
        <p:spPr>
          <a:xfrm>
            <a:off x="659872" y="30801239"/>
            <a:ext cx="17259564" cy="13247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GB" sz="1400" dirty="0">
                <a:solidFill>
                  <a:schemeClr val="tx1"/>
                </a:solidFill>
              </a:rPr>
              <a:t>Affiliations:</a:t>
            </a:r>
          </a:p>
          <a:p>
            <a:pPr algn="just"/>
            <a:r>
              <a:rPr lang="en-GB" sz="1400" dirty="0">
                <a:solidFill>
                  <a:schemeClr val="tx1"/>
                </a:solidFill>
              </a:rPr>
              <a:t>1- Department of Plant and Soil Sciences, University of Pretoria, Pretoria, South Africa.</a:t>
            </a:r>
          </a:p>
          <a:p>
            <a:pPr algn="just"/>
            <a:r>
              <a:rPr lang="en-GB" sz="1400" dirty="0">
                <a:solidFill>
                  <a:schemeClr val="tx1"/>
                </a:solidFill>
              </a:rPr>
              <a:t>2 – Department of Botany and Plant Biotechnology, University of Johannesburg, Auckland Park 2006, South Africa.</a:t>
            </a:r>
          </a:p>
          <a:p>
            <a:pPr algn="just"/>
            <a:r>
              <a:rPr lang="en-GB" sz="1400" dirty="0">
                <a:solidFill>
                  <a:schemeClr val="tx1"/>
                </a:solidFill>
              </a:rPr>
              <a:t>3 - Afromontane Research Unit and Department of Geography, University of the Free State: Qwaqwa Campus, </a:t>
            </a:r>
            <a:r>
              <a:rPr lang="en-GB" sz="1400" dirty="0" err="1">
                <a:solidFill>
                  <a:schemeClr val="tx1"/>
                </a:solidFill>
              </a:rPr>
              <a:t>Phuthaditjhaba</a:t>
            </a:r>
            <a:r>
              <a:rPr lang="en-GB" sz="1400" dirty="0">
                <a:solidFill>
                  <a:schemeClr val="tx1"/>
                </a:solidFill>
              </a:rPr>
              <a:t>, South Africa.</a:t>
            </a:r>
          </a:p>
          <a:p>
            <a:pPr algn="just"/>
            <a:r>
              <a:rPr lang="en-GB" sz="1400" dirty="0">
                <a:solidFill>
                  <a:schemeClr val="tx1"/>
                </a:solidFill>
              </a:rPr>
              <a:t>4 – Department of Biological Sciences and Bjerknes Centre for Climate Research, University of Bergen, Bergen, Norway</a:t>
            </a:r>
            <a:endParaRPr lang="en-ZA" sz="1400" dirty="0">
              <a:solidFill>
                <a:schemeClr val="tx1"/>
              </a:solidFill>
            </a:endParaRPr>
          </a:p>
        </p:txBody>
      </p:sp>
      <p:sp>
        <p:nvSpPr>
          <p:cNvPr id="18" name="Rectangle: Top Corners Rounded 17">
            <a:extLst>
              <a:ext uri="{FF2B5EF4-FFF2-40B4-BE49-F238E27FC236}">
                <a16:creationId xmlns:a16="http://schemas.microsoft.com/office/drawing/2014/main" id="{D11FB556-5689-7F37-85EC-1038E5BB01C1}"/>
              </a:ext>
            </a:extLst>
          </p:cNvPr>
          <p:cNvSpPr/>
          <p:nvPr/>
        </p:nvSpPr>
        <p:spPr>
          <a:xfrm>
            <a:off x="593222" y="13208450"/>
            <a:ext cx="22222854" cy="924302"/>
          </a:xfrm>
          <a:prstGeom prst="round2Same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3300" b="1" dirty="0">
                <a:solidFill>
                  <a:schemeClr val="tx1"/>
                </a:solidFill>
              </a:rPr>
              <a:t>Methods</a:t>
            </a:r>
            <a:endParaRPr lang="en-ZA" sz="3300" b="1" dirty="0">
              <a:solidFill>
                <a:schemeClr val="tx1"/>
              </a:solidFill>
            </a:endParaRPr>
          </a:p>
        </p:txBody>
      </p:sp>
      <p:sp>
        <p:nvSpPr>
          <p:cNvPr id="17" name="Rectangle 16">
            <a:extLst>
              <a:ext uri="{FF2B5EF4-FFF2-40B4-BE49-F238E27FC236}">
                <a16:creationId xmlns:a16="http://schemas.microsoft.com/office/drawing/2014/main" id="{0CFE48FC-3FFE-06E6-12BD-489EE5011359}"/>
              </a:ext>
            </a:extLst>
          </p:cNvPr>
          <p:cNvSpPr/>
          <p:nvPr/>
        </p:nvSpPr>
        <p:spPr>
          <a:xfrm>
            <a:off x="631913" y="31966289"/>
            <a:ext cx="10854954" cy="111311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GB" sz="1400" dirty="0">
                <a:solidFill>
                  <a:schemeClr val="tx1"/>
                </a:solidFill>
              </a:rPr>
              <a:t>Acknowledgements:</a:t>
            </a:r>
          </a:p>
          <a:p>
            <a:pPr algn="just"/>
            <a:r>
              <a:rPr lang="en-GB" sz="1400" dirty="0">
                <a:solidFill>
                  <a:schemeClr val="tx1"/>
                </a:solidFill>
              </a:rPr>
              <a:t>NRF (grant number 129334). </a:t>
            </a:r>
            <a:r>
              <a:rPr lang="en-GB" sz="1400" dirty="0" err="1">
                <a:solidFill>
                  <a:schemeClr val="tx1"/>
                </a:solidFill>
              </a:rPr>
              <a:t>Witsieshoek</a:t>
            </a:r>
            <a:r>
              <a:rPr lang="en-GB" sz="1400" dirty="0">
                <a:solidFill>
                  <a:schemeClr val="tx1"/>
                </a:solidFill>
              </a:rPr>
              <a:t> Mountain Lodge and the </a:t>
            </a:r>
            <a:r>
              <a:rPr lang="en-GB" sz="1400" dirty="0" err="1">
                <a:solidFill>
                  <a:schemeClr val="tx1"/>
                </a:solidFill>
              </a:rPr>
              <a:t>Batlokoa</a:t>
            </a:r>
            <a:r>
              <a:rPr lang="en-GB" sz="1400" dirty="0">
                <a:solidFill>
                  <a:schemeClr val="tx1"/>
                </a:solidFill>
              </a:rPr>
              <a:t> Royal House. DESTEA (permit number 202108000007627). SANParks (Agreement SS225).  Lesotho Ministry of Tourism, Environment and Culture. Imke Smit was funded through a Doctoral Research Bursary from the University of Pretoria.</a:t>
            </a:r>
          </a:p>
        </p:txBody>
      </p:sp>
      <p:cxnSp>
        <p:nvCxnSpPr>
          <p:cNvPr id="36" name="Straight Arrow Connector 35">
            <a:extLst>
              <a:ext uri="{FF2B5EF4-FFF2-40B4-BE49-F238E27FC236}">
                <a16:creationId xmlns:a16="http://schemas.microsoft.com/office/drawing/2014/main" id="{9AE6241B-3BC3-AE07-2218-29ED1A9A3ED0}"/>
              </a:ext>
            </a:extLst>
          </p:cNvPr>
          <p:cNvCxnSpPr>
            <a:cxnSpLocks/>
          </p:cNvCxnSpPr>
          <p:nvPr/>
        </p:nvCxnSpPr>
        <p:spPr>
          <a:xfrm>
            <a:off x="12359007" y="10636108"/>
            <a:ext cx="656499" cy="0"/>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sp>
        <p:nvSpPr>
          <p:cNvPr id="7" name="Rectangle: Top Corners Rounded 6">
            <a:extLst>
              <a:ext uri="{FF2B5EF4-FFF2-40B4-BE49-F238E27FC236}">
                <a16:creationId xmlns:a16="http://schemas.microsoft.com/office/drawing/2014/main" id="{B98B9611-F45E-5104-320F-471BF69A8AF9}"/>
              </a:ext>
            </a:extLst>
          </p:cNvPr>
          <p:cNvSpPr/>
          <p:nvPr/>
        </p:nvSpPr>
        <p:spPr>
          <a:xfrm>
            <a:off x="547853" y="8301143"/>
            <a:ext cx="14773379" cy="946958"/>
          </a:xfrm>
          <a:prstGeom prst="round2Same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3300" b="1" dirty="0">
                <a:solidFill>
                  <a:schemeClr val="tx1"/>
                </a:solidFill>
              </a:rPr>
              <a:t>Hypotheses</a:t>
            </a:r>
            <a:endParaRPr lang="en-ZA" sz="3300" b="1" dirty="0">
              <a:solidFill>
                <a:schemeClr val="tx1"/>
              </a:solidFill>
            </a:endParaRPr>
          </a:p>
        </p:txBody>
      </p:sp>
      <p:sp>
        <p:nvSpPr>
          <p:cNvPr id="31" name="Rectangle 30">
            <a:extLst>
              <a:ext uri="{FF2B5EF4-FFF2-40B4-BE49-F238E27FC236}">
                <a16:creationId xmlns:a16="http://schemas.microsoft.com/office/drawing/2014/main" id="{5AEFDC20-712D-D682-3D24-9DBD3C0F7830}"/>
              </a:ext>
            </a:extLst>
          </p:cNvPr>
          <p:cNvSpPr/>
          <p:nvPr/>
        </p:nvSpPr>
        <p:spPr>
          <a:xfrm>
            <a:off x="575812" y="9424485"/>
            <a:ext cx="3207278" cy="33402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2800" dirty="0">
                <a:solidFill>
                  <a:schemeClr val="tx1"/>
                </a:solidFill>
              </a:rPr>
              <a:t>Community assembly shifts from limiting similarity to environmental filtering with elevation</a:t>
            </a:r>
          </a:p>
        </p:txBody>
      </p:sp>
      <p:sp>
        <p:nvSpPr>
          <p:cNvPr id="32" name="Rectangle 31">
            <a:extLst>
              <a:ext uri="{FF2B5EF4-FFF2-40B4-BE49-F238E27FC236}">
                <a16:creationId xmlns:a16="http://schemas.microsoft.com/office/drawing/2014/main" id="{B5683126-D643-1B2F-F8AA-60324CCA5B65}"/>
              </a:ext>
            </a:extLst>
          </p:cNvPr>
          <p:cNvSpPr/>
          <p:nvPr/>
        </p:nvSpPr>
        <p:spPr>
          <a:xfrm>
            <a:off x="8005875" y="9578012"/>
            <a:ext cx="2578248" cy="320354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2800" dirty="0">
                <a:solidFill>
                  <a:schemeClr val="tx1"/>
                </a:solidFill>
              </a:rPr>
              <a:t>Micro-environmental differences create fine-scale variation in community assembly</a:t>
            </a:r>
          </a:p>
        </p:txBody>
      </p:sp>
      <p:pic>
        <p:nvPicPr>
          <p:cNvPr id="42" name="Picture 41">
            <a:extLst>
              <a:ext uri="{FF2B5EF4-FFF2-40B4-BE49-F238E27FC236}">
                <a16:creationId xmlns:a16="http://schemas.microsoft.com/office/drawing/2014/main" id="{70C02C03-65DC-AB4A-AE7F-BF2C806287DB}"/>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4036182" y="9478125"/>
            <a:ext cx="3352807" cy="3352807"/>
          </a:xfrm>
          <a:prstGeom prst="rect">
            <a:avLst/>
          </a:prstGeom>
        </p:spPr>
      </p:pic>
      <p:pic>
        <p:nvPicPr>
          <p:cNvPr id="61" name="Picture 60">
            <a:extLst>
              <a:ext uri="{FF2B5EF4-FFF2-40B4-BE49-F238E27FC236}">
                <a16:creationId xmlns:a16="http://schemas.microsoft.com/office/drawing/2014/main" id="{15CAAB42-1DF4-C77A-270A-90E091582063}"/>
              </a:ext>
            </a:extLst>
          </p:cNvPr>
          <p:cNvPicPr>
            <a:picLocks noChangeAspect="1"/>
          </p:cNvPicPr>
          <p:nvPr/>
        </p:nvPicPr>
        <p:blipFill>
          <a:blip r:embed="rId6">
            <a:extLst>
              <a:ext uri="{28A0092B-C50C-407E-A947-70E740481C1C}">
                <a14:useLocalDpi xmlns:a14="http://schemas.microsoft.com/office/drawing/2010/main" val="0"/>
              </a:ext>
            </a:extLst>
          </a:blip>
          <a:srcRect l="27587" r="23078"/>
          <a:stretch>
            <a:fillRect/>
          </a:stretch>
        </p:blipFill>
        <p:spPr>
          <a:xfrm>
            <a:off x="10609720" y="9896143"/>
            <a:ext cx="2451100" cy="2743206"/>
          </a:xfrm>
          <a:prstGeom prst="rect">
            <a:avLst/>
          </a:prstGeom>
        </p:spPr>
      </p:pic>
      <p:pic>
        <p:nvPicPr>
          <p:cNvPr id="63" name="Picture 62">
            <a:extLst>
              <a:ext uri="{FF2B5EF4-FFF2-40B4-BE49-F238E27FC236}">
                <a16:creationId xmlns:a16="http://schemas.microsoft.com/office/drawing/2014/main" id="{F4242EAD-251F-D38F-9C9C-A31FF3CADAA5}"/>
              </a:ext>
            </a:extLst>
          </p:cNvPr>
          <p:cNvPicPr>
            <a:picLocks noChangeAspect="1"/>
          </p:cNvPicPr>
          <p:nvPr/>
        </p:nvPicPr>
        <p:blipFill>
          <a:blip r:embed="rId7">
            <a:extLst>
              <a:ext uri="{28A0092B-C50C-407E-A947-70E740481C1C}">
                <a14:useLocalDpi xmlns:a14="http://schemas.microsoft.com/office/drawing/2010/main" val="0"/>
              </a:ext>
            </a:extLst>
          </a:blip>
          <a:srcRect l="25133" r="29300"/>
          <a:stretch>
            <a:fillRect/>
          </a:stretch>
        </p:blipFill>
        <p:spPr>
          <a:xfrm>
            <a:off x="13015506" y="9873899"/>
            <a:ext cx="2263871" cy="2743206"/>
          </a:xfrm>
          <a:prstGeom prst="rect">
            <a:avLst/>
          </a:prstGeom>
        </p:spPr>
      </p:pic>
      <p:cxnSp>
        <p:nvCxnSpPr>
          <p:cNvPr id="68" name="Straight Connector 67">
            <a:extLst>
              <a:ext uri="{FF2B5EF4-FFF2-40B4-BE49-F238E27FC236}">
                <a16:creationId xmlns:a16="http://schemas.microsoft.com/office/drawing/2014/main" id="{9A2B9557-CDE0-6650-917A-6C972FAA4667}"/>
              </a:ext>
            </a:extLst>
          </p:cNvPr>
          <p:cNvCxnSpPr/>
          <p:nvPr/>
        </p:nvCxnSpPr>
        <p:spPr>
          <a:xfrm>
            <a:off x="7896218" y="9549581"/>
            <a:ext cx="0" cy="3209893"/>
          </a:xfrm>
          <a:prstGeom prst="line">
            <a:avLst/>
          </a:prstGeom>
          <a:ln w="57150">
            <a:solidFill>
              <a:srgbClr val="F6C6AD"/>
            </a:solidFill>
          </a:ln>
        </p:spPr>
        <p:style>
          <a:lnRef idx="2">
            <a:schemeClr val="accent1"/>
          </a:lnRef>
          <a:fillRef idx="0">
            <a:schemeClr val="accent1"/>
          </a:fillRef>
          <a:effectRef idx="1">
            <a:schemeClr val="accent1"/>
          </a:effectRef>
          <a:fontRef idx="minor">
            <a:schemeClr val="tx1"/>
          </a:fontRef>
        </p:style>
      </p:cxnSp>
      <p:grpSp>
        <p:nvGrpSpPr>
          <p:cNvPr id="13" name="Group 12">
            <a:extLst>
              <a:ext uri="{FF2B5EF4-FFF2-40B4-BE49-F238E27FC236}">
                <a16:creationId xmlns:a16="http://schemas.microsoft.com/office/drawing/2014/main" id="{4A8FF39E-CC42-855D-9439-7BF1C7EE098D}"/>
              </a:ext>
            </a:extLst>
          </p:cNvPr>
          <p:cNvGrpSpPr/>
          <p:nvPr/>
        </p:nvGrpSpPr>
        <p:grpSpPr>
          <a:xfrm>
            <a:off x="519894" y="18184392"/>
            <a:ext cx="22280020" cy="8022324"/>
            <a:chOff x="631913" y="17623628"/>
            <a:chExt cx="22133410" cy="8022324"/>
          </a:xfrm>
        </p:grpSpPr>
        <p:sp>
          <p:nvSpPr>
            <p:cNvPr id="22" name="Rectangle: Top Corners Rounded 21">
              <a:extLst>
                <a:ext uri="{FF2B5EF4-FFF2-40B4-BE49-F238E27FC236}">
                  <a16:creationId xmlns:a16="http://schemas.microsoft.com/office/drawing/2014/main" id="{3D966E8D-BFB4-F352-A611-C423687A3052}"/>
                </a:ext>
              </a:extLst>
            </p:cNvPr>
            <p:cNvSpPr/>
            <p:nvPr/>
          </p:nvSpPr>
          <p:spPr>
            <a:xfrm>
              <a:off x="631913" y="17623628"/>
              <a:ext cx="22133410" cy="946958"/>
            </a:xfrm>
            <a:prstGeom prst="round2Same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3300" b="1" dirty="0">
                  <a:solidFill>
                    <a:schemeClr val="tx1"/>
                  </a:solidFill>
                </a:rPr>
                <a:t>Results and discussion</a:t>
              </a:r>
              <a:endParaRPr lang="en-ZA" sz="3300" b="1" dirty="0">
                <a:solidFill>
                  <a:schemeClr val="tx1"/>
                </a:solidFill>
              </a:endParaRPr>
            </a:p>
          </p:txBody>
        </p:sp>
        <p:sp>
          <p:nvSpPr>
            <p:cNvPr id="43" name="Rectangle 42">
              <a:extLst>
                <a:ext uri="{FF2B5EF4-FFF2-40B4-BE49-F238E27FC236}">
                  <a16:creationId xmlns:a16="http://schemas.microsoft.com/office/drawing/2014/main" id="{13F6457D-42E9-7115-D051-290749CA22AF}"/>
                </a:ext>
              </a:extLst>
            </p:cNvPr>
            <p:cNvSpPr/>
            <p:nvPr/>
          </p:nvSpPr>
          <p:spPr>
            <a:xfrm>
              <a:off x="7906590" y="18570585"/>
              <a:ext cx="7434431" cy="7075366"/>
            </a:xfrm>
            <a:prstGeom prst="rect">
              <a:avLst/>
            </a:prstGeom>
            <a:solidFill>
              <a:schemeClr val="accent2">
                <a:lumMod val="60000"/>
                <a:lumOff val="40000"/>
                <a:alpha val="50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083"/>
            </a:p>
          </p:txBody>
        </p:sp>
        <p:sp>
          <p:nvSpPr>
            <p:cNvPr id="44" name="Rectangle 43">
              <a:extLst>
                <a:ext uri="{FF2B5EF4-FFF2-40B4-BE49-F238E27FC236}">
                  <a16:creationId xmlns:a16="http://schemas.microsoft.com/office/drawing/2014/main" id="{B17169B9-D4BE-9601-BC30-826F81C3AD7D}"/>
                </a:ext>
              </a:extLst>
            </p:cNvPr>
            <p:cNvSpPr/>
            <p:nvPr/>
          </p:nvSpPr>
          <p:spPr>
            <a:xfrm>
              <a:off x="15341024" y="18570584"/>
              <a:ext cx="7424297" cy="7075367"/>
            </a:xfrm>
            <a:prstGeom prst="rect">
              <a:avLst/>
            </a:prstGeom>
            <a:solidFill>
              <a:schemeClr val="accent2">
                <a:lumMod val="40000"/>
                <a:lumOff val="60000"/>
                <a:alpha val="50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083"/>
            </a:p>
          </p:txBody>
        </p:sp>
        <p:sp>
          <p:nvSpPr>
            <p:cNvPr id="40" name="Rectangle 39">
              <a:extLst>
                <a:ext uri="{FF2B5EF4-FFF2-40B4-BE49-F238E27FC236}">
                  <a16:creationId xmlns:a16="http://schemas.microsoft.com/office/drawing/2014/main" id="{47CAB437-8F7A-4F6F-4CBB-C9168A519B41}"/>
                </a:ext>
              </a:extLst>
            </p:cNvPr>
            <p:cNvSpPr/>
            <p:nvPr/>
          </p:nvSpPr>
          <p:spPr>
            <a:xfrm>
              <a:off x="631913" y="18570586"/>
              <a:ext cx="7274674" cy="7075366"/>
            </a:xfrm>
            <a:prstGeom prst="rect">
              <a:avLst/>
            </a:prstGeom>
            <a:solidFill>
              <a:schemeClr val="accent2">
                <a:lumMod val="75000"/>
                <a:alpha val="50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083"/>
            </a:p>
          </p:txBody>
        </p:sp>
        <p:sp>
          <p:nvSpPr>
            <p:cNvPr id="39" name="Rectangle 38">
              <a:extLst>
                <a:ext uri="{FF2B5EF4-FFF2-40B4-BE49-F238E27FC236}">
                  <a16:creationId xmlns:a16="http://schemas.microsoft.com/office/drawing/2014/main" id="{FD855947-858C-FAA7-E537-436A094178A2}"/>
                </a:ext>
              </a:extLst>
            </p:cNvPr>
            <p:cNvSpPr/>
            <p:nvPr/>
          </p:nvSpPr>
          <p:spPr>
            <a:xfrm>
              <a:off x="772122" y="23073744"/>
              <a:ext cx="6908193" cy="22794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ZA" sz="2600" b="1" dirty="0">
                  <a:solidFill>
                    <a:sysClr val="windowText" lastClr="000000"/>
                  </a:solidFill>
                </a:rPr>
                <a:t>Figure 2: Importance of environmental variables in predicting the deviation of diversity in height (SES of plant height) and diversity in SLA (SES of SLA) from random assembly.</a:t>
              </a:r>
            </a:p>
          </p:txBody>
        </p:sp>
        <p:pic>
          <p:nvPicPr>
            <p:cNvPr id="94" name="Picture 93">
              <a:extLst>
                <a:ext uri="{FF2B5EF4-FFF2-40B4-BE49-F238E27FC236}">
                  <a16:creationId xmlns:a16="http://schemas.microsoft.com/office/drawing/2014/main" id="{156497FF-DD00-557D-8FBB-13AFC169B1A5}"/>
                </a:ext>
              </a:extLst>
            </p:cNvPr>
            <p:cNvPicPr>
              <a:picLocks noChangeAspect="1"/>
            </p:cNvPicPr>
            <p:nvPr/>
          </p:nvPicPr>
          <p:blipFill>
            <a:blip r:embed="rId8">
              <a:extLst>
                <a:ext uri="{28A0092B-C50C-407E-A947-70E740481C1C}">
                  <a14:useLocalDpi xmlns:a14="http://schemas.microsoft.com/office/drawing/2010/main" val="0"/>
                </a:ext>
              </a:extLst>
            </a:blip>
            <a:srcRect l="729" r="729"/>
            <a:stretch/>
          </p:blipFill>
          <p:spPr>
            <a:xfrm>
              <a:off x="772123" y="18818099"/>
              <a:ext cx="6908193" cy="4267209"/>
            </a:xfrm>
            <a:prstGeom prst="rect">
              <a:avLst/>
            </a:prstGeom>
          </p:spPr>
        </p:pic>
        <p:sp>
          <p:nvSpPr>
            <p:cNvPr id="23" name="Rectangle 22">
              <a:extLst>
                <a:ext uri="{FF2B5EF4-FFF2-40B4-BE49-F238E27FC236}">
                  <a16:creationId xmlns:a16="http://schemas.microsoft.com/office/drawing/2014/main" id="{3AF188A2-6795-80B1-2A6F-8A395759CB74}"/>
                </a:ext>
              </a:extLst>
            </p:cNvPr>
            <p:cNvSpPr/>
            <p:nvPr/>
          </p:nvSpPr>
          <p:spPr>
            <a:xfrm>
              <a:off x="8089935" y="23085306"/>
              <a:ext cx="7024813" cy="22679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ZA" sz="2600" b="1" dirty="0">
                  <a:solidFill>
                    <a:sysClr val="windowText" lastClr="000000"/>
                  </a:solidFill>
                </a:rPr>
                <a:t>Figure 3: Distribution of SES of plant height  and SLA at low, mid and high elevation. Letters reflect significant differences in the mean SES of each elevation.</a:t>
              </a:r>
            </a:p>
          </p:txBody>
        </p:sp>
        <p:pic>
          <p:nvPicPr>
            <p:cNvPr id="96" name="Picture 95">
              <a:extLst>
                <a:ext uri="{FF2B5EF4-FFF2-40B4-BE49-F238E27FC236}">
                  <a16:creationId xmlns:a16="http://schemas.microsoft.com/office/drawing/2014/main" id="{ECB7E813-9A38-BB07-D570-BD6C218460EF}"/>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8089935" y="18818097"/>
              <a:ext cx="7024813" cy="4267209"/>
            </a:xfrm>
            <a:prstGeom prst="rect">
              <a:avLst/>
            </a:prstGeom>
          </p:spPr>
        </p:pic>
        <p:sp>
          <p:nvSpPr>
            <p:cNvPr id="34" name="Rectangle 33">
              <a:extLst>
                <a:ext uri="{FF2B5EF4-FFF2-40B4-BE49-F238E27FC236}">
                  <a16:creationId xmlns:a16="http://schemas.microsoft.com/office/drawing/2014/main" id="{AF2DB26D-172E-4BD3-7FCB-CF0C603FD682}"/>
                </a:ext>
              </a:extLst>
            </p:cNvPr>
            <p:cNvSpPr/>
            <p:nvPr/>
          </p:nvSpPr>
          <p:spPr>
            <a:xfrm>
              <a:off x="15524371" y="23087389"/>
              <a:ext cx="7024813" cy="22379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ZA" sz="2600" b="1" dirty="0">
                  <a:solidFill>
                    <a:sysClr val="windowText" lastClr="000000"/>
                  </a:solidFill>
                </a:rPr>
                <a:t>Figure 4: Community weighted mean traits of cells at low, mid and high elevation</a:t>
              </a:r>
            </a:p>
          </p:txBody>
        </p:sp>
        <p:pic>
          <p:nvPicPr>
            <p:cNvPr id="98" name="Picture 97">
              <a:extLst>
                <a:ext uri="{FF2B5EF4-FFF2-40B4-BE49-F238E27FC236}">
                  <a16:creationId xmlns:a16="http://schemas.microsoft.com/office/drawing/2014/main" id="{DE9F1691-2048-4CF8-A2FA-D37FF577773B}"/>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15531571" y="18822137"/>
              <a:ext cx="7010414" cy="4267209"/>
            </a:xfrm>
            <a:prstGeom prst="rect">
              <a:avLst/>
            </a:prstGeom>
          </p:spPr>
        </p:pic>
      </p:grpSp>
      <p:sp>
        <p:nvSpPr>
          <p:cNvPr id="20" name="Rectangle 19">
            <a:extLst>
              <a:ext uri="{FF2B5EF4-FFF2-40B4-BE49-F238E27FC236}">
                <a16:creationId xmlns:a16="http://schemas.microsoft.com/office/drawing/2014/main" id="{FDEB4FEC-ADD7-583A-7448-C8693187E3FB}"/>
              </a:ext>
            </a:extLst>
          </p:cNvPr>
          <p:cNvSpPr/>
          <p:nvPr/>
        </p:nvSpPr>
        <p:spPr>
          <a:xfrm>
            <a:off x="15760653" y="11560910"/>
            <a:ext cx="6594093" cy="124033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ZA" sz="2600" b="1" dirty="0">
                <a:solidFill>
                  <a:sysClr val="windowText" lastClr="000000"/>
                </a:solidFill>
              </a:rPr>
              <a:t>Figure 1: Sites along an elevational gradient in the Maloti-Drakensberg of South Africa and Lesotho.</a:t>
            </a:r>
          </a:p>
        </p:txBody>
      </p:sp>
      <p:pic>
        <p:nvPicPr>
          <p:cNvPr id="103" name="Picture 102">
            <a:extLst>
              <a:ext uri="{FF2B5EF4-FFF2-40B4-BE49-F238E27FC236}">
                <a16:creationId xmlns:a16="http://schemas.microsoft.com/office/drawing/2014/main" id="{C5555351-ADE1-9C65-4F33-AD8EA87B3668}"/>
              </a:ext>
            </a:extLst>
          </p:cNvPr>
          <p:cNvPicPr>
            <a:picLocks noChangeAspect="1"/>
          </p:cNvPicPr>
          <p:nvPr/>
        </p:nvPicPr>
        <p:blipFill>
          <a:blip r:embed="rId11">
            <a:extLst>
              <a:ext uri="{28A0092B-C50C-407E-A947-70E740481C1C}">
                <a14:useLocalDpi xmlns:a14="http://schemas.microsoft.com/office/drawing/2010/main" val="0"/>
              </a:ext>
            </a:extLst>
          </a:blip>
          <a:srcRect l="21961"/>
          <a:stretch>
            <a:fillRect/>
          </a:stretch>
        </p:blipFill>
        <p:spPr>
          <a:xfrm>
            <a:off x="15826445" y="4834017"/>
            <a:ext cx="6989631" cy="6332995"/>
          </a:xfrm>
          <a:prstGeom prst="rect">
            <a:avLst/>
          </a:prstGeom>
          <a:ln>
            <a:solidFill>
              <a:schemeClr val="tx1"/>
            </a:solidFill>
          </a:ln>
        </p:spPr>
      </p:pic>
      <p:sp>
        <p:nvSpPr>
          <p:cNvPr id="24" name="Rectangle 23">
            <a:extLst>
              <a:ext uri="{FF2B5EF4-FFF2-40B4-BE49-F238E27FC236}">
                <a16:creationId xmlns:a16="http://schemas.microsoft.com/office/drawing/2014/main" id="{D50E3A14-11D1-DFCF-6906-89AC49C66848}"/>
              </a:ext>
            </a:extLst>
          </p:cNvPr>
          <p:cNvSpPr/>
          <p:nvPr/>
        </p:nvSpPr>
        <p:spPr>
          <a:xfrm>
            <a:off x="18821400" y="30739872"/>
            <a:ext cx="4577093" cy="2551647"/>
          </a:xfrm>
          <a:prstGeom prst="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9" name="Picture 12" descr="University of Pretoria - Wikipedia">
            <a:extLst>
              <a:ext uri="{FF2B5EF4-FFF2-40B4-BE49-F238E27FC236}">
                <a16:creationId xmlns:a16="http://schemas.microsoft.com/office/drawing/2014/main" id="{402783BA-ACF5-154F-93BF-D41D0559BC6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528483" y="30922371"/>
            <a:ext cx="1192260" cy="184994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1" name="Picture 14" descr="NRF | National Astrophysics and Space Science Programme">
            <a:extLst>
              <a:ext uri="{FF2B5EF4-FFF2-40B4-BE49-F238E27FC236}">
                <a16:creationId xmlns:a16="http://schemas.microsoft.com/office/drawing/2014/main" id="{27D89211-E562-675E-077D-760FB14F5CB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878018" y="31086836"/>
            <a:ext cx="1767070" cy="175890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1E8B122B-D0F5-5E3B-166B-E8FC14A5E726}"/>
              </a:ext>
            </a:extLst>
          </p:cNvPr>
          <p:cNvSpPr txBox="1"/>
          <p:nvPr/>
        </p:nvSpPr>
        <p:spPr>
          <a:xfrm>
            <a:off x="18388195" y="2017078"/>
            <a:ext cx="4665096" cy="646331"/>
          </a:xfrm>
          <a:prstGeom prst="rect">
            <a:avLst/>
          </a:prstGeom>
          <a:noFill/>
        </p:spPr>
        <p:txBody>
          <a:bodyPr wrap="square" rtlCol="0">
            <a:spAutoFit/>
          </a:bodyPr>
          <a:lstStyle/>
          <a:p>
            <a:r>
              <a:rPr lang="en-ZA" sz="3600" b="1" dirty="0">
                <a:ln w="10160">
                  <a:solidFill>
                    <a:schemeClr val="tx1"/>
                  </a:solidFill>
                  <a:prstDash val="solid"/>
                </a:ln>
                <a:solidFill>
                  <a:srgbClr val="FFFFFF"/>
                </a:solidFill>
                <a:effectLst>
                  <a:outerShdw blurRad="38100" dist="22860" dir="5400000" algn="tl" rotWithShape="0">
                    <a:srgbClr val="000000">
                      <a:alpha val="30000"/>
                    </a:srgbClr>
                  </a:outerShdw>
                </a:effectLst>
                <a:latin typeface="+mj-lt"/>
                <a:ea typeface="+mj-ea"/>
                <a:cs typeface="+mj-cs"/>
              </a:rPr>
              <a:t>imke.smit@tuks.co.za</a:t>
            </a:r>
          </a:p>
        </p:txBody>
      </p:sp>
      <p:pic>
        <p:nvPicPr>
          <p:cNvPr id="27" name="Picture 26">
            <a:extLst>
              <a:ext uri="{FF2B5EF4-FFF2-40B4-BE49-F238E27FC236}">
                <a16:creationId xmlns:a16="http://schemas.microsoft.com/office/drawing/2014/main" id="{46B1349D-6E08-1060-11D4-C83E3ADF758E}"/>
              </a:ext>
            </a:extLst>
          </p:cNvPr>
          <p:cNvPicPr>
            <a:picLocks noChangeAspect="1"/>
          </p:cNvPicPr>
          <p:nvPr/>
        </p:nvPicPr>
        <p:blipFill>
          <a:blip r:embed="rId14">
            <a:extLst>
              <a:ext uri="{28A0092B-C50C-407E-A947-70E740481C1C}">
                <a14:useLocalDpi xmlns:a14="http://schemas.microsoft.com/office/drawing/2010/main" val="0"/>
              </a:ext>
            </a:extLst>
          </a:blip>
          <a:srcRect l="41113" t="2450" r="21846" b="53197"/>
          <a:stretch>
            <a:fillRect/>
          </a:stretch>
        </p:blipFill>
        <p:spPr>
          <a:xfrm>
            <a:off x="20928032" y="270347"/>
            <a:ext cx="1888044" cy="1695509"/>
          </a:xfrm>
          <a:prstGeom prst="rect">
            <a:avLst/>
          </a:prstGeom>
        </p:spPr>
      </p:pic>
    </p:spTree>
    <p:extLst>
      <p:ext uri="{BB962C8B-B14F-4D97-AF65-F5344CB8AC3E}">
        <p14:creationId xmlns:p14="http://schemas.microsoft.com/office/powerpoint/2010/main" val="214127304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3790</TotalTime>
  <Words>811</Words>
  <Application>Microsoft Office PowerPoint</Application>
  <PresentationFormat>Custom</PresentationFormat>
  <Paragraphs>36</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Community assembly processes  in a montane grassland are not  driven by environmental factors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Imke Smit</dc:creator>
  <cp:lastModifiedBy>Imke Smit</cp:lastModifiedBy>
  <cp:revision>124</cp:revision>
  <dcterms:created xsi:type="dcterms:W3CDTF">2026-05-07T11:04:57Z</dcterms:created>
  <dcterms:modified xsi:type="dcterms:W3CDTF">2026-05-29T07:04:43Z</dcterms:modified>
</cp:coreProperties>
</file>